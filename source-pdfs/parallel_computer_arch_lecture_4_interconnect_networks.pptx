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5143500" cx="9144000"/>
  <p:notesSz cx="6858000" cy="9144000"/>
  <p:embeddedFontLst>
    <p:embeddedFont>
      <p:font typeface="Raleway"/>
      <p:regular r:id="rId46"/>
      <p:bold r:id="rId47"/>
      <p:italic r:id="rId48"/>
      <p:boldItalic r:id="rId49"/>
    </p:embeddedFont>
    <p:embeddedFont>
      <p:font typeface="Lato"/>
      <p:regular r:id="rId50"/>
      <p:bold r:id="rId51"/>
      <p:italic r:id="rId52"/>
      <p:boldItalic r:id="rId53"/>
    </p:embeddedFont>
    <p:embeddedFont>
      <p:font typeface="Book Antiqua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93A2BFC-2911-4044-B5C6-4CC4D6FB2649}">
  <a:tblStyle styleId="{593A2BFC-2911-4044-B5C6-4CC4D6FB264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Raleway-regular.fntdata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aleway-italic.fntdata"/><Relationship Id="rId47" Type="http://schemas.openxmlformats.org/officeDocument/2006/relationships/font" Target="fonts/Raleway-bold.fntdata"/><Relationship Id="rId49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Lato-bold.fntdata"/><Relationship Id="rId50" Type="http://schemas.openxmlformats.org/officeDocument/2006/relationships/font" Target="fonts/Lato-regular.fntdata"/><Relationship Id="rId53" Type="http://schemas.openxmlformats.org/officeDocument/2006/relationships/font" Target="fonts/Lato-boldItalic.fntdata"/><Relationship Id="rId52" Type="http://schemas.openxmlformats.org/officeDocument/2006/relationships/font" Target="fonts/Lato-italic.fntdata"/><Relationship Id="rId11" Type="http://schemas.openxmlformats.org/officeDocument/2006/relationships/slide" Target="slides/slide6.xml"/><Relationship Id="rId55" Type="http://schemas.openxmlformats.org/officeDocument/2006/relationships/font" Target="fonts/BookAntiqua-bold.fntdata"/><Relationship Id="rId10" Type="http://schemas.openxmlformats.org/officeDocument/2006/relationships/slide" Target="slides/slide5.xml"/><Relationship Id="rId54" Type="http://schemas.openxmlformats.org/officeDocument/2006/relationships/font" Target="fonts/BookAntiqua-regular.fntdata"/><Relationship Id="rId13" Type="http://schemas.openxmlformats.org/officeDocument/2006/relationships/slide" Target="slides/slide8.xml"/><Relationship Id="rId57" Type="http://schemas.openxmlformats.org/officeDocument/2006/relationships/font" Target="fonts/BookAntiqua-boldItalic.fntdata"/><Relationship Id="rId12" Type="http://schemas.openxmlformats.org/officeDocument/2006/relationships/slide" Target="slides/slide7.xml"/><Relationship Id="rId56" Type="http://schemas.openxmlformats.org/officeDocument/2006/relationships/font" Target="fonts/BookAntiqua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2bcddc1f07_0_1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2bcddc1f0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2c89ea1eeb_0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2c89ea1ee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2c89ea1eeb_0_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2c89ea1ee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2c89ea1eeb_0_2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2c89ea1ee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2c89ea1eeb_0_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2c89ea1ee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2c89ea1eeb_0_3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2c89ea1ee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2c89ea1eeb_0_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2c89ea1eeb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f=t1​</a:t>
            </a:r>
            <a:r>
              <a:rPr lang="en">
                <a:solidFill>
                  <a:schemeClr val="dk1"/>
                </a:solidFill>
              </a:rPr>
              <a:t> means that the </a:t>
            </a:r>
            <a:r>
              <a:rPr b="1" lang="en">
                <a:solidFill>
                  <a:schemeClr val="dk1"/>
                </a:solidFill>
              </a:rPr>
              <a:t>signaling rate</a:t>
            </a:r>
            <a:r>
              <a:rPr lang="en">
                <a:solidFill>
                  <a:schemeClr val="dk1"/>
                </a:solidFill>
              </a:rPr>
              <a:t> is the reciprocal of tt.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Here, tt represents the </a:t>
            </a:r>
            <a:r>
              <a:rPr b="1" lang="en">
                <a:solidFill>
                  <a:schemeClr val="dk1"/>
                </a:solidFill>
              </a:rPr>
              <a:t>time interval between signal transitions</a:t>
            </a:r>
            <a:r>
              <a:rPr lang="en">
                <a:solidFill>
                  <a:schemeClr val="dk1"/>
                </a:solidFill>
              </a:rPr>
              <a:t> on the communication channel.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could be: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time for </a:t>
            </a:r>
            <a:r>
              <a:rPr b="1" lang="en">
                <a:solidFill>
                  <a:schemeClr val="dk1"/>
                </a:solidFill>
              </a:rPr>
              <a:t>one bit to be transmitted</a:t>
            </a:r>
            <a:r>
              <a:rPr lang="en">
                <a:solidFill>
                  <a:schemeClr val="dk1"/>
                </a:solidFill>
              </a:rPr>
              <a:t> in serial communication.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b="1" lang="en">
                <a:solidFill>
                  <a:schemeClr val="dk1"/>
                </a:solidFill>
              </a:rPr>
              <a:t>clock period</a:t>
            </a:r>
            <a:r>
              <a:rPr lang="en">
                <a:solidFill>
                  <a:schemeClr val="dk1"/>
                </a:solidFill>
              </a:rPr>
              <a:t> if the system transmits data on every clock cycle.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In </a:t>
            </a:r>
            <a:r>
              <a:rPr b="1" lang="en">
                <a:solidFill>
                  <a:schemeClr val="dk1"/>
                </a:solidFill>
              </a:rPr>
              <a:t>double data rate (DDR) signaling</a:t>
            </a:r>
            <a:r>
              <a:rPr lang="en">
                <a:solidFill>
                  <a:schemeClr val="dk1"/>
                </a:solidFill>
              </a:rPr>
              <a:t>, data is transferred on both the rising and falling edges of the clock, making tt effectively </a:t>
            </a:r>
            <a:r>
              <a:rPr b="1" lang="en">
                <a:solidFill>
                  <a:schemeClr val="dk1"/>
                </a:solidFill>
              </a:rPr>
              <a:t>half</a:t>
            </a:r>
            <a:r>
              <a:rPr lang="en">
                <a:solidFill>
                  <a:schemeClr val="dk1"/>
                </a:solidFill>
              </a:rPr>
              <a:t> of the clock cycle.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2c89ea1eeb_0_5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2c89ea1eeb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2c89ea1eeb_0_6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2c89ea1ee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2c89ea1eeb_0_7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2c89ea1eeb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2c89ea1eeb_0_8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2c89ea1eeb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2c89ea1eeb_0_9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2c89ea1eeb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2c89ea1eeb_0_7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2c89ea1eeb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2c89ea1eeb_0_1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2c89ea1eeb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2c89ea1eeb_0_10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2c89ea1eeb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2c89ea1eeb_0_1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2c89ea1eeb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Diagram Explanation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Left Section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Processing Elements (PE) at each stage (A0,A1,…A0​,A1​,…) pass partial sums to the next stage.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Arrows show data flow between processing elements.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Right Section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Graph Representation</a:t>
            </a:r>
            <a:r>
              <a:rPr lang="en">
                <a:solidFill>
                  <a:schemeClr val="dk1"/>
                </a:solidFill>
              </a:rPr>
              <a:t>: Nodes (circles) show direct connections between processing elements (PE0PE0​ to PE7PE7​).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Illustrates how the interconnection network supports communication patterns.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2c89ea1eeb_0_13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2c89ea1eeb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Diagram Explanation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Left Section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Processing Elements (PE) at each stage (A0,A1,…A0​,A1​,…) pass partial sums to the next stage.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Arrows show data flow between processing elements.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Right Section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Graph Representation</a:t>
            </a:r>
            <a:r>
              <a:rPr lang="en">
                <a:solidFill>
                  <a:schemeClr val="dk1"/>
                </a:solidFill>
              </a:rPr>
              <a:t>: Nodes (circles) show direct connections between processing elements (PE0PE0​ to PE7PE7​).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Illustrates how the interconnection network supports communication patterns.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2c89ea1eeb_0_14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2c89ea1eeb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2c89ea1eeb_0_15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2c89ea1eeb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2c89ea1eeb_0_16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2c89ea1eeb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2f90dc0be7_2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2f90dc0be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2f90dc0be7_2_1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2f90dc0be7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Key Notes for the Instructor: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Ring vs. Chordal Ring: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Highlight how the addition of chords in a chordal ring reduces the network diameter and improves fault tolerance compared to a standard ring.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Barrel Shifter: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Common in hardware designs like crossbars and specific processor architectures. Emphasize its use for shifting, routing, or rotating operations.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Completely Connected Network: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Ideal for small-scale systems requiring extremely low latency but impractical for large systems due to the exponential growth in the number of links (N(N−1)/2N(N−1)/2).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Discussion Points: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Trade-offs between complexity, scalability, and performance in these topologies.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Real-world examples of usage: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Chordal rings in multiprocessor interconnects.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Barrel shifters in specialized hardware (e.g., graphics processing).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Completely connected networks in small, high-performance clusters or peer-to-peer communication.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2f90dc0be7_2_3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2f90dc0be7_2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1. Binary Tree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Node Degree (dd)</a:t>
            </a:r>
            <a:r>
              <a:rPr lang="en">
                <a:solidFill>
                  <a:schemeClr val="dk1"/>
                </a:solidFill>
              </a:rPr>
              <a:t>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Each internal node connects to 3 nodes: one parent and two children. Leaf nodes only connect to 1 parent. However, the average degree is 3 for most nodes in a balanced binary tree.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Network Diameter (DD)</a:t>
            </a:r>
            <a:r>
              <a:rPr lang="en">
                <a:solidFill>
                  <a:schemeClr val="dk1"/>
                </a:solidFill>
              </a:rPr>
              <a:t>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Diameter is the longest distance between any two nodes. In a binary tree: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D=2(h−1)D=2(h−1),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where h=⌈log⁡2N⌉h=⌈log2​N⌉ is the height of the tree for NN nodes. This accounts for traversing from one leaf node to another via the root.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Number of Links (ll)</a:t>
            </a:r>
            <a:r>
              <a:rPr lang="en">
                <a:solidFill>
                  <a:schemeClr val="dk1"/>
                </a:solidFill>
              </a:rPr>
              <a:t>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Each node except the root has one parent. Therefore, there are N−1N−1 links in a binary tree with NN nodes.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Bisection Width (BB)</a:t>
            </a:r>
            <a:r>
              <a:rPr lang="en">
                <a:solidFill>
                  <a:schemeClr val="dk1"/>
                </a:solidFill>
              </a:rPr>
              <a:t>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The bisection cuts the tree at the middle level. At most, one link connects the root's subtrees, so B=1B=1.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2. 2D Mesh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Node Degree (dd)</a:t>
            </a:r>
            <a:r>
              <a:rPr lang="en">
                <a:solidFill>
                  <a:schemeClr val="dk1"/>
                </a:solidFill>
              </a:rPr>
              <a:t>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Each node connects to 4 neighbors (left, right, top, and bottom) in a 2D grid, except for edge and corner nodes, which have fewer neighbors. For simplicity, we assume the average degree is d=4d=4.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Network Diameter (DD)</a:t>
            </a:r>
            <a:r>
              <a:rPr lang="en">
                <a:solidFill>
                  <a:schemeClr val="dk1"/>
                </a:solidFill>
              </a:rPr>
              <a:t>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In an r×rr×r grid (r=Nr=N​), the longest path is from one corner to the opposite corner. The number of hops is: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D=2(r−1)D=2(r−1).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Number of Links (ll)</a:t>
            </a:r>
            <a:r>
              <a:rPr lang="en">
                <a:solidFill>
                  <a:schemeClr val="dk1"/>
                </a:solidFill>
              </a:rPr>
              <a:t>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Each of the NN nodes connects to at most 4 neighbors, but every link is shared by two nodes. Therefore: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l=2N−2rl=2N−2r.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Bisection Width (BB)</a:t>
            </a:r>
            <a:r>
              <a:rPr lang="en">
                <a:solidFill>
                  <a:schemeClr val="dk1"/>
                </a:solidFill>
              </a:rPr>
              <a:t>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Cutting the network into two halves requires cutting rr links (along a row or column), so B=rB=r.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3. 2D Torus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Node Degree (dd)</a:t>
            </a:r>
            <a:r>
              <a:rPr lang="en">
                <a:solidFill>
                  <a:schemeClr val="dk1"/>
                </a:solidFill>
              </a:rPr>
              <a:t>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Similar to a 2D mesh, but with wrap-around connections for edge nodes, so every node always has 4 neighbors (d=4d=4).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Network Diameter (DD)</a:t>
            </a:r>
            <a:r>
              <a:rPr lang="en">
                <a:solidFill>
                  <a:schemeClr val="dk1"/>
                </a:solidFill>
              </a:rPr>
              <a:t>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The longest distance in a torus is half the perimeter of the grid, which is: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D=2⌊r/2⌋D=2⌊r/2⌋.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The floor operation accounts for even/odd dimensions of the grid.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Number of Links (ll)</a:t>
            </a:r>
            <a:r>
              <a:rPr lang="en">
                <a:solidFill>
                  <a:schemeClr val="dk1"/>
                </a:solidFill>
              </a:rPr>
              <a:t>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Unlike the mesh, all edge nodes are connected via wrap-around links. Thus, the total number of links is simply: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l=2Nl=2N.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Bisection Width (BB)</a:t>
            </a:r>
            <a:r>
              <a:rPr lang="en">
                <a:solidFill>
                  <a:schemeClr val="dk1"/>
                </a:solidFill>
              </a:rPr>
              <a:t>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Cutting the network into two halves requires cutting both horizontal and vertical wrap-around connections. This doubles the bisection width compared to a 2D mesh: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B=2rB=2r.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4. Illiac Mesh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Node Degree (dd)</a:t>
            </a:r>
            <a:r>
              <a:rPr lang="en">
                <a:solidFill>
                  <a:schemeClr val="dk1"/>
                </a:solidFill>
              </a:rPr>
              <a:t>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Similar to the 2D mesh, each node connects to 4 neighbors, but the Illiac mesh includes diagonal/chordal connections. However, the degree is kept at d=4d=4.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Network Diameter (DD)</a:t>
            </a:r>
            <a:r>
              <a:rPr lang="en">
                <a:solidFill>
                  <a:schemeClr val="dk1"/>
                </a:solidFill>
              </a:rPr>
              <a:t>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With additional diagonal links, the diameter is smaller than a regular 2D mesh. It is given by: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D=r−1D=r−1.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Number of Links (ll)</a:t>
            </a:r>
            <a:r>
              <a:rPr lang="en">
                <a:solidFill>
                  <a:schemeClr val="dk1"/>
                </a:solidFill>
              </a:rPr>
              <a:t>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The additional diagonal links double the number of total links in the mesh: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l=2Nl=2N.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Bisection Width (BB)</a:t>
            </a:r>
            <a:r>
              <a:rPr lang="en">
                <a:solidFill>
                  <a:schemeClr val="dk1"/>
                </a:solidFill>
              </a:rPr>
              <a:t>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Like the 2D Torus, cutting through both horizontal and vertical links gives: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B=2rB=2r.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2f90dc0be7_2_5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2f90dc0be7_2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2f90dc0be7_2_8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2f90dc0be7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Highlight that buses are most effective for small systems (e.g., single-board computers or small clusters).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Discuss examples like PCIe and early multiprocessor systems using shared buses.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Emphasize the transition to scalable networks (e.g., crossbars or meshes) for larger systems.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2f90dc0be7_2_9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2f90dc0be7_2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2f90dc0be7_2_1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2f90dc0be7_2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Highlight examples where point-to-point networks are used, such as small-scale systems with a limited number of nodes (e.g., FPGA designs or specialized hardware).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Discuss how this network is an extreme case and serves as a theoretical benchmark for performance comparisons.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Contrast with more scalable topologies like mesh or torus networks.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2f90dc0be7_2_13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2f90dc0be7_2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2f90dc0be7_2_14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2f90dc0be7_2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Emphasize that crossbars are used in tightly coupled systems where performance is critical, and cost is secondary (e.g., CPU-cache interconnects).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Discuss how crossbars compare to point-to-point networks in terms of cost vs. scalability.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Consider highlighting arbitration mechanisms like round-robin or priority-based schemes to resolve conflicts.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2f90dc0be7_2_19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2f90dc0be7_2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Highlight use cases for both types: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Buffered Crossbars</a:t>
            </a:r>
            <a:r>
              <a:rPr lang="en">
                <a:solidFill>
                  <a:schemeClr val="dk1"/>
                </a:solidFill>
              </a:rPr>
              <a:t> are better for high-traffic systems with variable packet sizes.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Bufferless Crossbars</a:t>
            </a:r>
            <a:r>
              <a:rPr lang="en">
                <a:solidFill>
                  <a:schemeClr val="dk1"/>
                </a:solidFill>
              </a:rPr>
              <a:t> are ideal for energy-efficient designs or predictable traffic patterns.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Mention examples: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Buffered Crossbars:</a:t>
            </a:r>
            <a:r>
              <a:rPr lang="en">
                <a:solidFill>
                  <a:schemeClr val="dk1"/>
                </a:solidFill>
              </a:rPr>
              <a:t> Used in some high-performance routers and switches.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Bufferless Crossbars:</a:t>
            </a:r>
            <a:r>
              <a:rPr lang="en">
                <a:solidFill>
                  <a:schemeClr val="dk1"/>
                </a:solidFill>
              </a:rPr>
              <a:t> Common in low-power interconnects or small-scale systems.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2f90dc0be7_2_20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2f90dc0be7_2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2f90dc0be7_2_21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2f90dc0be7_2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2f90dc0be7_2_15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2f90dc0be7_2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2f90dc0be7_2_17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2f90dc0be7_2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2f90dc0be7_2_16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2f90dc0be7_2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2f90dc0be7_2_18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2f90dc0be7_2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2f90dc0be7_2_19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2f90dc0be7_2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2f90dc0be7_2_22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2f90dc0be7_2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2bb2980959_0_3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2bb298095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645225" y="2762725"/>
            <a:ext cx="67365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4400"/>
              <a:buNone/>
              <a:defRPr sz="4400">
                <a:solidFill>
                  <a:srgbClr val="1C458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2"/>
          <p:cNvSpPr/>
          <p:nvPr/>
        </p:nvSpPr>
        <p:spPr>
          <a:xfrm>
            <a:off x="5938246" y="2533163"/>
            <a:ext cx="721800" cy="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6659861" y="2533163"/>
            <a:ext cx="721800" cy="77100"/>
          </a:xfrm>
          <a:prstGeom prst="rect">
            <a:avLst/>
          </a:prstGeom>
          <a:solidFill>
            <a:srgbClr val="DBA2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-1" y="2533163"/>
            <a:ext cx="7218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721425" y="2533163"/>
            <a:ext cx="5216700" cy="7710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0"/>
            <a:ext cx="9144000" cy="399300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b="1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b="1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/>
          <p:nvPr/>
        </p:nvSpPr>
        <p:spPr>
          <a:xfrm>
            <a:off x="3047704" y="3992850"/>
            <a:ext cx="3047700" cy="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096271" y="3992850"/>
            <a:ext cx="3047700" cy="7710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1" y="3992850"/>
            <a:ext cx="3047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-125" y="4830281"/>
            <a:ext cx="91440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idx="1" type="body"/>
          </p:nvPr>
        </p:nvSpPr>
        <p:spPr>
          <a:xfrm>
            <a:off x="1710425" y="2161800"/>
            <a:ext cx="5723700" cy="8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rtl="0" algn="ctr">
              <a:spcBef>
                <a:spcPts val="600"/>
              </a:spcBef>
              <a:spcAft>
                <a:spcPts val="0"/>
              </a:spcAft>
              <a:buSzPts val="2200"/>
              <a:buChar char="▷"/>
              <a:defRPr i="1"/>
            </a:lvl1pPr>
            <a:lvl2pPr indent="-368300" lvl="1" marL="914400" rtl="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 i="1"/>
            </a:lvl2pPr>
            <a:lvl3pPr indent="-368300" lvl="2" marL="1371600" rtl="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 i="1"/>
            </a:lvl3pPr>
            <a:lvl4pPr indent="-368300" lvl="3" marL="1828800" rtl="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 i="1"/>
            </a:lvl4pPr>
            <a:lvl5pPr indent="-368300" lvl="4" marL="2286000" rtl="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 i="1"/>
            </a:lvl5pPr>
            <a:lvl6pPr indent="-368300" lvl="5" marL="2743200" rtl="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 i="1"/>
            </a:lvl6pPr>
            <a:lvl7pPr indent="-368300" lvl="6" marL="3200400" rtl="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 i="1"/>
            </a:lvl7pPr>
            <a:lvl8pPr indent="-368300" lvl="7" marL="3657600" rtl="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 i="1"/>
            </a:lvl8pPr>
            <a:lvl9pPr indent="-368300" lvl="8" marL="41148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 i="1"/>
            </a:lvl9pPr>
          </a:lstStyle>
          <a:p/>
        </p:txBody>
      </p:sp>
      <p:sp>
        <p:nvSpPr>
          <p:cNvPr id="26" name="Google Shape;26;p4"/>
          <p:cNvSpPr txBox="1"/>
          <p:nvPr/>
        </p:nvSpPr>
        <p:spPr>
          <a:xfrm>
            <a:off x="3593400" y="1181419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600">
                <a:solidFill>
                  <a:schemeClr val="accent6"/>
                </a:solidFill>
              </a:rPr>
              <a:t>“</a:t>
            </a:r>
            <a:endParaRPr b="1" sz="9600">
              <a:solidFill>
                <a:schemeClr val="accent6"/>
              </a:solidFill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5723283" y="1599675"/>
            <a:ext cx="1710300" cy="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7434177" y="1599675"/>
            <a:ext cx="1710300" cy="77100"/>
          </a:xfrm>
          <a:prstGeom prst="rect">
            <a:avLst/>
          </a:prstGeom>
          <a:solidFill>
            <a:srgbClr val="DBA2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0" y="1599675"/>
            <a:ext cx="17103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1710425" y="1599675"/>
            <a:ext cx="17103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-125" y="4830281"/>
            <a:ext cx="91440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▷"/>
              <a:defRPr>
                <a:solidFill>
                  <a:schemeClr val="dk1"/>
                </a:solidFill>
              </a:defRPr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>
                <a:solidFill>
                  <a:schemeClr val="dk1"/>
                </a:solidFill>
              </a:defRPr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>
                <a:solidFill>
                  <a:schemeClr val="dk1"/>
                </a:solidFill>
              </a:defRPr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>
                <a:solidFill>
                  <a:schemeClr val="dk1"/>
                </a:solidFill>
              </a:defRPr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>
                <a:solidFill>
                  <a:schemeClr val="dk1"/>
                </a:solidFill>
              </a:defRPr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>
                <a:solidFill>
                  <a:schemeClr val="dk1"/>
                </a:solidFill>
              </a:defRPr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>
                <a:solidFill>
                  <a:schemeClr val="dk1"/>
                </a:solidFill>
              </a:defRPr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>
                <a:solidFill>
                  <a:schemeClr val="dk1"/>
                </a:solidFill>
              </a:defRPr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" name="Google Shape;35;p5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rgbClr val="DBA2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6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rgbClr val="DBA2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6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6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0" y="-1050"/>
            <a:ext cx="8329200" cy="57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" type="body"/>
          </p:nvPr>
        </p:nvSpPr>
        <p:spPr>
          <a:xfrm>
            <a:off x="165850" y="718875"/>
            <a:ext cx="3864600" cy="42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▷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47" name="Google Shape;47;p6"/>
          <p:cNvSpPr txBox="1"/>
          <p:nvPr>
            <p:ph idx="2" type="body"/>
          </p:nvPr>
        </p:nvSpPr>
        <p:spPr>
          <a:xfrm>
            <a:off x="4219449" y="718950"/>
            <a:ext cx="3554400" cy="42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▷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7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7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7"/>
          <p:cNvSpPr txBox="1"/>
          <p:nvPr>
            <p:ph type="title"/>
          </p:nvPr>
        </p:nvSpPr>
        <p:spPr>
          <a:xfrm>
            <a:off x="0" y="-1050"/>
            <a:ext cx="8329200" cy="57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" type="body"/>
          </p:nvPr>
        </p:nvSpPr>
        <p:spPr>
          <a:xfrm>
            <a:off x="114875" y="576150"/>
            <a:ext cx="27264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▷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6" name="Google Shape;56;p7"/>
          <p:cNvSpPr txBox="1"/>
          <p:nvPr>
            <p:ph idx="2" type="body"/>
          </p:nvPr>
        </p:nvSpPr>
        <p:spPr>
          <a:xfrm>
            <a:off x="2978999" y="608825"/>
            <a:ext cx="2726400" cy="43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▷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7" name="Google Shape;57;p7"/>
          <p:cNvSpPr txBox="1"/>
          <p:nvPr>
            <p:ph idx="3" type="body"/>
          </p:nvPr>
        </p:nvSpPr>
        <p:spPr>
          <a:xfrm>
            <a:off x="5909548" y="708902"/>
            <a:ext cx="3025200" cy="43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▷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8" name="Google Shape;58;p7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rgbClr val="DBA2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8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8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8"/>
          <p:cNvSpPr txBox="1"/>
          <p:nvPr>
            <p:ph type="title"/>
          </p:nvPr>
        </p:nvSpPr>
        <p:spPr>
          <a:xfrm>
            <a:off x="0" y="-1050"/>
            <a:ext cx="8329200" cy="57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9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rgbClr val="DBA2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9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9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9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0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rgbClr val="DBA2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0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0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 background">
  <p:cSld name="BLANK_1">
    <p:bg>
      <p:bgPr>
        <a:solidFill>
          <a:srgbClr val="0B5394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1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1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1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1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/>
          <p:nvPr>
            <p:ph idx="1" type="body"/>
          </p:nvPr>
        </p:nvSpPr>
        <p:spPr>
          <a:xfrm>
            <a:off x="699247" y="1396081"/>
            <a:ext cx="7745400" cy="23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None/>
              <a:defRPr b="0" i="0" sz="22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🙣"/>
              <a:defRPr b="0" i="0" sz="1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-3175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🙣"/>
              <a:defRPr b="0" i="0" sz="1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-3175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🙣"/>
              <a:defRPr b="0" i="0" sz="1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-3175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🙣"/>
              <a:defRPr b="0" i="0" sz="1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86" name="Google Shape;86;p12"/>
          <p:cNvSpPr txBox="1"/>
          <p:nvPr>
            <p:ph type="title"/>
          </p:nvPr>
        </p:nvSpPr>
        <p:spPr>
          <a:xfrm>
            <a:off x="688490" y="427617"/>
            <a:ext cx="7756200" cy="7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Arial"/>
              <a:buNone/>
              <a:defRPr b="1" i="0" sz="4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-1050"/>
            <a:ext cx="8329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Raleway"/>
              <a:buNone/>
              <a:defRPr sz="28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Raleway"/>
              <a:buNone/>
              <a:defRPr b="1" sz="28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Raleway"/>
              <a:buNone/>
              <a:defRPr b="1" sz="28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Raleway"/>
              <a:buNone/>
              <a:defRPr b="1" sz="28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Raleway"/>
              <a:buNone/>
              <a:defRPr b="1" sz="28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Raleway"/>
              <a:buNone/>
              <a:defRPr b="1" sz="28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Raleway"/>
              <a:buNone/>
              <a:defRPr b="1" sz="28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Raleway"/>
              <a:buNone/>
              <a:defRPr b="1" sz="28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Raleway"/>
              <a:buNone/>
              <a:defRPr b="1" sz="28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00950" y="576150"/>
            <a:ext cx="8974500" cy="44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Lato"/>
              <a:buChar char="▷"/>
              <a:defRPr sz="2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"/>
              <a:buChar char="○"/>
              <a:defRPr sz="2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"/>
              <a:buChar char="■"/>
              <a:defRPr sz="2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"/>
              <a:buChar char="●"/>
              <a:defRPr sz="2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"/>
              <a:buChar char="○"/>
              <a:defRPr sz="2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"/>
              <a:buChar char="■"/>
              <a:defRPr sz="2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"/>
              <a:buChar char="●"/>
              <a:defRPr sz="2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"/>
              <a:buChar char="○"/>
              <a:defRPr sz="2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"/>
              <a:buChar char="■"/>
              <a:defRPr sz="2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404375" y="75150"/>
            <a:ext cx="671149" cy="5011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type="ctrTitle"/>
          </p:nvPr>
        </p:nvSpPr>
        <p:spPr>
          <a:xfrm>
            <a:off x="362500" y="185150"/>
            <a:ext cx="67365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Parallel Computer Architecture</a:t>
            </a:r>
            <a:endParaRPr b="1"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DBA253"/>
                </a:solidFill>
              </a:rPr>
              <a:t>Lecture 4: </a:t>
            </a:r>
            <a:endParaRPr sz="2600">
              <a:solidFill>
                <a:srgbClr val="DBA253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DBA253"/>
              </a:buClr>
              <a:buSzPts val="2600"/>
              <a:buChar char="-"/>
            </a:pPr>
            <a:r>
              <a:rPr lang="en" sz="2600">
                <a:solidFill>
                  <a:srgbClr val="DBA253"/>
                </a:solidFill>
              </a:rPr>
              <a:t>Interconnect Networks 1</a:t>
            </a:r>
            <a:endParaRPr sz="2600">
              <a:solidFill>
                <a:srgbClr val="DBA253"/>
              </a:solidFill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Clr>
                <a:srgbClr val="DBA253"/>
              </a:buClr>
              <a:buSzPts val="2600"/>
              <a:buChar char="-"/>
            </a:pPr>
            <a:r>
              <a:rPr lang="en" sz="2600">
                <a:solidFill>
                  <a:srgbClr val="DBA253"/>
                </a:solidFill>
              </a:rPr>
              <a:t>Basics</a:t>
            </a:r>
            <a:endParaRPr sz="2600">
              <a:solidFill>
                <a:srgbClr val="DBA253"/>
              </a:solidFill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Clr>
                <a:srgbClr val="DBA253"/>
              </a:buClr>
              <a:buSzPts val="2600"/>
              <a:buChar char="-"/>
            </a:pPr>
            <a:r>
              <a:rPr lang="en" sz="2600">
                <a:solidFill>
                  <a:srgbClr val="DBA253"/>
                </a:solidFill>
              </a:rPr>
              <a:t>Topology</a:t>
            </a:r>
            <a:endParaRPr sz="2600">
              <a:solidFill>
                <a:srgbClr val="DBA25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  <p:sp>
        <p:nvSpPr>
          <p:cNvPr id="92" name="Google Shape;92;p13"/>
          <p:cNvSpPr txBox="1"/>
          <p:nvPr/>
        </p:nvSpPr>
        <p:spPr>
          <a:xfrm>
            <a:off x="701725" y="2748975"/>
            <a:ext cx="76104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900">
                <a:latin typeface="Lato"/>
                <a:ea typeface="Lato"/>
                <a:cs typeface="Lato"/>
                <a:sym typeface="Lato"/>
              </a:rPr>
              <a:t>Armin Mehrabian</a:t>
            </a:r>
            <a:endParaRPr b="1" sz="1900"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Spring 2025</a:t>
            </a:r>
            <a:endParaRPr sz="2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Scalable </a:t>
            </a:r>
            <a:r>
              <a:rPr lang="en"/>
              <a:t>Interconnect</a:t>
            </a:r>
            <a:r>
              <a:rPr lang="en"/>
              <a:t> Network</a:t>
            </a:r>
            <a:endParaRPr/>
          </a:p>
        </p:txBody>
      </p:sp>
      <p:sp>
        <p:nvSpPr>
          <p:cNvPr id="98" name="Google Shape;98;p14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Key Issues:</a:t>
            </a:r>
            <a:endParaRPr b="1" sz="15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Topology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Network structure and its impact on performance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Mathematical Formulation &amp; Properties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Self-routing capability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Packets determine their own path dynamically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Partitioning strategies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Dividing network resources for efficiency and fault tolerance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Algorithm mapping &amp; embedding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Placing computational tasks onto the network to optimize communication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Traffic Flow Management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Handling congestion and efficient data movement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 Technologies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Electrical vs. Optical links and their trade-offs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Evaluation Metrics:</a:t>
            </a:r>
            <a:endParaRPr b="1" sz="15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Latency, bandwidth, scalability, fault tolerance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Trade-offs in complexity, power, and implementation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127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Scalable Interconnect Network</a:t>
            </a:r>
            <a:endParaRPr/>
          </a:p>
        </p:txBody>
      </p:sp>
      <p:sp>
        <p:nvSpPr>
          <p:cNvPr id="105" name="Google Shape;105;p15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Communication Overhead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Must be minimized for efficiency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Communication-to-Computation Ratio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Should remain low to maximize computational efficiency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Determines network bandwidth requirements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Affected by workload patterns (localized vs. dispersed, bursty vs. uniform)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Key Trade-offs in Programming Models</a:t>
            </a:r>
            <a:r>
              <a:rPr lang="en" sz="14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Granularity of Transfer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Impacts efficiency; smaller transfers increase overhead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Amortization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Cost distribution over multiple operations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Bandwidth vs. Latency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Balancing data transfer rate and response time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Communication &amp; Computation Overlap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Hiding latency through concurrent execution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127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5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Definitions in Interconnect Networks </a:t>
            </a:r>
            <a:endParaRPr/>
          </a:p>
        </p:txBody>
      </p:sp>
      <p:sp>
        <p:nvSpPr>
          <p:cNvPr id="112" name="Google Shape;112;p16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Network Interface Controller (NIC) / Host Interface</a:t>
            </a:r>
            <a:endParaRPr b="1" sz="16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Connects a computer node to the network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Manages bidirectional traffic between host and network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functions: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Arbitration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Decides access to shared network resources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Buffering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Temporarily stores incoming/outgoing data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Routing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Determines packet paths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127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6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Definitions in Interconnect Networks </a:t>
            </a:r>
            <a:endParaRPr/>
          </a:p>
        </p:txBody>
      </p:sp>
      <p:sp>
        <p:nvSpPr>
          <p:cNvPr id="119" name="Google Shape;119;p17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Links / Channels / Cables</a:t>
            </a:r>
            <a:endParaRPr b="1" sz="15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 connections between two hardware units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Typically a 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bundle of wires or optical fibers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carrying signals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Transmitter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converts digital data into an analog signal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Receiver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converts analog signals back into digital data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Collectively form a 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digital information flow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127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7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Definitions in Interconnect Networks </a:t>
            </a:r>
            <a:endParaRPr/>
          </a:p>
        </p:txBody>
      </p:sp>
      <p:sp>
        <p:nvSpPr>
          <p:cNvPr id="126" name="Google Shape;126;p18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Switches</a:t>
            </a:r>
            <a:endParaRPr b="1" sz="16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 a fixed number of input and output channels/links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</a:t>
            </a: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port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has a </a:t>
            </a: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receiver &amp; input buffer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</a:t>
            </a: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 port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has a </a:t>
            </a: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transmitter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Forward data through the network by </a:t>
            </a: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steering packets/messages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127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8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Definitions in Interconnect Networks </a:t>
            </a:r>
            <a:endParaRPr/>
          </a:p>
        </p:txBody>
      </p:sp>
      <p:sp>
        <p:nvSpPr>
          <p:cNvPr id="133" name="Google Shape;133;p19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Key Networking Concepts:</a:t>
            </a:r>
            <a:endParaRPr b="1" sz="17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 Composition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Links &amp; switches enable routing from source to destination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 Layer Protocol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Converts digital symbols into signals for transmission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Link-Level Protocol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Segments streams into packets/messages for switch interpretation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Node-Level Protocol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Embeds remote communication commands within packets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127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9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Formalism of Interconnect Networks </a:t>
            </a:r>
            <a:endParaRPr/>
          </a:p>
        </p:txBody>
      </p:sp>
      <p:sp>
        <p:nvSpPr>
          <p:cNvPr id="140" name="Google Shape;140;p20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Graph Representation</a:t>
            </a:r>
            <a:endParaRPr b="1" sz="11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 as a Graph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V={switches, nodes}V={switches, nodes}, connected by communication channels C⊆V×V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Channel Properties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Width ww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Number of bits transmitted in parallel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Signaling Rate f=1/t​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Data transfer frequency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Bandwidth b=w⋅f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Effective data transfer rate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Basic Network Concepts</a:t>
            </a:r>
            <a:endParaRPr b="1" sz="11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Flit/Phit (Physical Unit)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Smallest data unit transferred per cycle across a link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Switch Degree / Node Degree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Number of input or output channels at a switch or node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Route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Sequence of switches and links followed by a message from source to destination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Street Analogy for Routing</a:t>
            </a:r>
            <a:endParaRPr b="1" sz="11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Streets &amp; Intersections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Street (Channel)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Has a speed limit (signaling rate) and lanes (width)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Intersection (Switch)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Directs traffic between multiple streets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Traffic Flow &amp; Routing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Multiple concurrent trips (messages) share or cross paths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Various route options exist, with different congestion levels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127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0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Characterizes a Network? </a:t>
            </a:r>
            <a:endParaRPr/>
          </a:p>
        </p:txBody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1. Topology (What?)</a:t>
            </a:r>
            <a:endParaRPr b="1" sz="16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Defines the </a:t>
            </a: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 interconnection structure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the network graph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Direct Networks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Every switch is connected to a host node (e.g., meshes, tori)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Indirect Networks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Hosts connect to only a subset of switches, forming a multi-stage network (e.g., Omega, fat trees, Clos networks)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Property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 Diameter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maximum shortest path between any two nodes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127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1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Characterizes a Network? </a:t>
            </a:r>
            <a:endParaRPr/>
          </a:p>
        </p:txBody>
      </p:sp>
      <p:sp>
        <p:nvSpPr>
          <p:cNvPr id="154" name="Google Shape;154;p22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2. Switching Strategy (How?)</a:t>
            </a:r>
            <a:endParaRPr b="1" sz="16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Determines </a:t>
            </a: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data in a message moves through the network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Circuit Switching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Establishes and reserves a dedicated path before transmission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Efficient for large, continuous data transfers but requires setup time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Analogy: </a:t>
            </a: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Parade route reservation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Packet Switching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Breaks messages into packets that are individually routed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Utilizes network resources more efficiently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Analogy: </a:t>
            </a: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Traveling in individual cars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127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2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Characterizes a Network? </a:t>
            </a:r>
            <a:endParaRPr/>
          </a:p>
        </p:txBody>
      </p:sp>
      <p:sp>
        <p:nvSpPr>
          <p:cNvPr id="161" name="Google Shape;161;p23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Flow Control Mechanism (When?)</a:t>
            </a:r>
            <a:endParaRPr b="1" sz="16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Controls </a:t>
            </a: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messages or portions of them traverse the network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Manages traffic contention: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Stalling packets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Buffering packets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Rerouting (if supported)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Dropping packets (</a:t>
            </a: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usually unacceptable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Flow Control Unit (Flit)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Minimum transferable unit over a link (can be as small as a phit or as large as a packet)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162" name="Google Shape;162;p23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Routing Algorithm (Which Paths to Take?) </a:t>
            </a:r>
            <a:endParaRPr/>
          </a:p>
        </p:txBody>
      </p:sp>
      <p:sp>
        <p:nvSpPr>
          <p:cNvPr id="168" name="Google Shape;168;p24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1. Role of a Routing Algorithm</a:t>
            </a:r>
            <a:endParaRPr b="1" sz="13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Determines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which paths messages can take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through the network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Restricts the set of possible routes to avoid contention and improve efficiency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Impacts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performance, congestion, and fault tolerance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2. Key Properties of Routing Algorithms</a:t>
            </a:r>
            <a:endParaRPr b="1" sz="13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Deterministic vs. Adaptive: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Deterministic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Always chooses the same path for a given source-destination pair (e.g., XY routing in meshes)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Adaptive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Dynamically selects paths based on network conditions (e.g., minimal adaptive routing)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Minimal vs. Non-minimal: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Minimal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Always takes the shortest possible path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Non-minimal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May take longer paths to balance load and avoid congestion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Deadlock and Gridlock Avoidance: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Deadlocks occur when packets cyclically block each other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Strategies include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virtual channels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deadlock-free routing rules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4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Routing Algorithm (Which Paths to Take?) </a:t>
            </a:r>
            <a:endParaRPr/>
          </a:p>
        </p:txBody>
      </p:sp>
      <p:sp>
        <p:nvSpPr>
          <p:cNvPr id="175" name="Google Shape;175;p25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3. Routing and Data Movement Strategies</a:t>
            </a:r>
            <a:endParaRPr b="1" sz="14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Store-and-Forward: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Entire packet is received before being forwarded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Higher latency but simpler control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Wormhole Routing: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Packet is split into small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flits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that move in a pipeline-like fashion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Reduces buffer requirements and improves latency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5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Characterizes a Network? </a:t>
            </a:r>
            <a:endParaRPr/>
          </a:p>
        </p:txBody>
      </p:sp>
      <p:sp>
        <p:nvSpPr>
          <p:cNvPr id="182" name="Google Shape;182;p26"/>
          <p:cNvSpPr txBox="1"/>
          <p:nvPr>
            <p:ph idx="1" type="body"/>
          </p:nvPr>
        </p:nvSpPr>
        <p:spPr>
          <a:xfrm>
            <a:off x="205200" y="519225"/>
            <a:ext cx="43587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Direct (Fixed) Networks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Endpoints (nodes) are part of the network itself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Every node acts as both an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endpoint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a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router/switch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Mesh, Torus, Hypercube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Characteristics: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Fixed topology with predictable routes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Scales well with local communication patterns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Lower latency for nearby nodes but may require more hops for distant nodes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Indirect (Dynamic) Networks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Endpoints connect only to a subset of dedicated switches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Hosts do not participate in routing; switches handle all traffic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Fat-tree, Clos network, Butterfly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Characteristics: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More flexible routing paths, allowing for adaptive routing strategies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handle higher bisection bandwidth efficiently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Often used in large-scale HPC and datacenter networks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183" name="Google Shape;183;p26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4" name="Google Shape;184;p26"/>
          <p:cNvPicPr preferRelativeResize="0"/>
          <p:nvPr/>
        </p:nvPicPr>
        <p:blipFill rotWithShape="1">
          <a:blip r:embed="rId3">
            <a:alphaModFix/>
          </a:blip>
          <a:srcRect b="0" l="0" r="44429" t="22456"/>
          <a:stretch/>
        </p:blipFill>
        <p:spPr>
          <a:xfrm>
            <a:off x="5657112" y="2877600"/>
            <a:ext cx="2568376" cy="1900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6"/>
          <p:cNvPicPr preferRelativeResize="0"/>
          <p:nvPr/>
        </p:nvPicPr>
        <p:blipFill rotWithShape="1">
          <a:blip r:embed="rId3">
            <a:alphaModFix/>
          </a:blip>
          <a:srcRect b="0" l="59047" r="802" t="22456"/>
          <a:stretch/>
        </p:blipFill>
        <p:spPr>
          <a:xfrm>
            <a:off x="5938612" y="519225"/>
            <a:ext cx="2157788" cy="22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7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Interconnect Network?</a:t>
            </a:r>
            <a:endParaRPr/>
          </a:p>
        </p:txBody>
      </p:sp>
      <p:sp>
        <p:nvSpPr>
          <p:cNvPr id="191" name="Google Shape;191;p27"/>
          <p:cNvSpPr txBox="1"/>
          <p:nvPr>
            <p:ph idx="1" type="body"/>
          </p:nvPr>
        </p:nvSpPr>
        <p:spPr>
          <a:xfrm>
            <a:off x="205200" y="519225"/>
            <a:ext cx="8046000" cy="18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▷"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Scalability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Avoids bottlenecks of a shared bus system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▷"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Cost-Efficiency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Reduces the prohibitive cost of full connectivity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▷"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Provides better balance between delay and cost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3300"/>
          </a:p>
        </p:txBody>
      </p:sp>
      <p:sp>
        <p:nvSpPr>
          <p:cNvPr id="192" name="Google Shape;192;p27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3" name="Google Shape;19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050" y="2121425"/>
            <a:ext cx="7489910" cy="2066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Interconnect Network?</a:t>
            </a:r>
            <a:endParaRPr/>
          </a:p>
        </p:txBody>
      </p:sp>
      <p:sp>
        <p:nvSpPr>
          <p:cNvPr id="199" name="Google Shape;199;p28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00" name="Google Shape;200;p28"/>
          <p:cNvGraphicFramePr/>
          <p:nvPr/>
        </p:nvGraphicFramePr>
        <p:xfrm>
          <a:off x="147638" y="2533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{593A2BFC-2911-4044-B5C6-4CC4D6FB2649}</a:tableStyleId>
              </a:tblPr>
              <a:tblGrid>
                <a:gridCol w="1657350"/>
                <a:gridCol w="704850"/>
                <a:gridCol w="619125"/>
                <a:gridCol w="58674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System Type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Delay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Cost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Characteristics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Bus System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O(n)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O(1)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Simple, low cost, but performance degrades with more nodes (contention &amp; scalability issues)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Fully Connected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O(1)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O(n)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Fast, direct communication, but impractical for large-scale systems due to excessive wiring cost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Interconnection Network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Optimized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Balanced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Offers scalable communication with a trade-off between cost and performance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1" name="Google Shape;201;p28"/>
          <p:cNvSpPr txBox="1"/>
          <p:nvPr>
            <p:ph idx="1" type="body"/>
          </p:nvPr>
        </p:nvSpPr>
        <p:spPr>
          <a:xfrm>
            <a:off x="205200" y="519225"/>
            <a:ext cx="8046000" cy="18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▷"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Scalability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Avoids bottlenecks of a shared bus system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▷"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Cost-Efficiency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Reduces the prohibitive cost of full connectivity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▷"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Provides better balance between delay and cost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33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9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Using an Appropriate Interconnection Network (IN), It Can Work Fast! </a:t>
            </a:r>
            <a:endParaRPr sz="2000"/>
          </a:p>
        </p:txBody>
      </p:sp>
      <p:sp>
        <p:nvSpPr>
          <p:cNvPr id="207" name="Google Shape;207;p29"/>
          <p:cNvSpPr txBox="1"/>
          <p:nvPr>
            <p:ph idx="1" type="body"/>
          </p:nvPr>
        </p:nvSpPr>
        <p:spPr>
          <a:xfrm>
            <a:off x="205200" y="519225"/>
            <a:ext cx="57690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Example: Prefix Sum or Parallel Scan</a:t>
            </a:r>
            <a:endParaRPr b="1" sz="11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example shows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prefix sum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parallel scan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 common operation in parallel computing.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Prefix Sum?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Compute cumulative sums across an array of values.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an array A=[a0,a1,a2,...,an−1], compute:S[i]=a0+a1+...+ai for i=0,1,2,...,n−1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 If A=[1,2,3,4], the prefix sum is:S=[1,3,6,10]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Parallel Processing?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Computing prefix sums sequentially takes O(n) time.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parallelizing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the computation can be done in O(log⁡2(n)) steps using n processors.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9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9" name="Google Shape;20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5325" y="1292350"/>
            <a:ext cx="2865003" cy="3064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Using an Appropriate Interconnection Network (IN), It Can Work Fast! </a:t>
            </a:r>
            <a:endParaRPr sz="2000"/>
          </a:p>
        </p:txBody>
      </p:sp>
      <p:sp>
        <p:nvSpPr>
          <p:cNvPr id="215" name="Google Shape;215;p30"/>
          <p:cNvSpPr txBox="1"/>
          <p:nvPr>
            <p:ph idx="1" type="body"/>
          </p:nvPr>
        </p:nvSpPr>
        <p:spPr>
          <a:xfrm>
            <a:off x="205200" y="519225"/>
            <a:ext cx="57690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Example: Prefix Sum or Parallel Scan</a:t>
            </a:r>
            <a:endParaRPr b="1" sz="11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Operation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Compute cumulative sums efficiently in parallel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Setup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nodes, n=log⁡2(N)n=log2​(N) steps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Compute: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y0=x0y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y1=x0+x1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y2=x0+x1+x2…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Connection Requirements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PE0 must communicate with PE1,PE2,PE1​,PE2​, and PE4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PE1​ communicates with PE0,PE2,PE3,PE0​,PE2​,PE3​, and PE5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Interconnection Advantage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network supports the required communication efficiently, matching the needs of the operation.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Parallel communication enables significant speedups.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0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7" name="Google Shape;21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5325" y="1292350"/>
            <a:ext cx="2865003" cy="3064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1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Interconnect Networks: Performance and Cost Metrics </a:t>
            </a:r>
            <a:endParaRPr sz="2500"/>
          </a:p>
        </p:txBody>
      </p:sp>
      <p:sp>
        <p:nvSpPr>
          <p:cNvPr id="223" name="Google Shape;223;p31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1. Key Metrics</a:t>
            </a:r>
            <a:endParaRPr b="1" sz="16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Distance Between Nodes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Number of hops to reach one node from another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 Diameter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Maximum distance (hops) between any two nodes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Determines the </a:t>
            </a: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maximum delay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the network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Average Distance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Average number of hops between all node pairs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Impacts the </a:t>
            </a: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average communication delay</a:t>
            </a:r>
            <a:endParaRPr b="1" sz="19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1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2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Interconnect Networks: Performance and Cost Metrics </a:t>
            </a:r>
            <a:endParaRPr sz="2500"/>
          </a:p>
        </p:txBody>
      </p:sp>
      <p:sp>
        <p:nvSpPr>
          <p:cNvPr id="230" name="Google Shape;230;p32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2. Performance Metrics</a:t>
            </a:r>
            <a:endParaRPr b="1" sz="16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Latency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 from the request to when the first bit of data is received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Depends on distance, routing, and flow control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Bandwidth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transmission rate when all processors are sending and receiving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Bisection Bandwidth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Maximum data transfer rate (or number of wires) between two halves of the network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2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3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Interconnect Networks: Performance and Cost Metrics </a:t>
            </a:r>
            <a:endParaRPr sz="2500"/>
          </a:p>
        </p:txBody>
      </p:sp>
      <p:sp>
        <p:nvSpPr>
          <p:cNvPr id="237" name="Google Shape;237;p33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3. Cost Metrics</a:t>
            </a:r>
            <a:endParaRPr b="1" sz="16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 Degree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Number of ports per node (affects cost)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Fixed degree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desirable for scalability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Connectivity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Minimum number of parallel paths between any two nodes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Higher connectivity improves fault tolerance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Symmetry &amp; Scalability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Symmetric networks simplify routing and balance performance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Scalable designs allow efficient expansion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3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4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Fixed Interconnect Networks</a:t>
            </a:r>
            <a:endParaRPr/>
          </a:p>
        </p:txBody>
      </p:sp>
      <p:sp>
        <p:nvSpPr>
          <p:cNvPr id="244" name="Google Shape;244;p34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5" name="Google Shape;24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9100" y="746300"/>
            <a:ext cx="5474046" cy="175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525" y="2591075"/>
            <a:ext cx="8182963" cy="18939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5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Increasing node degree and connectivity  </a:t>
            </a:r>
            <a:endParaRPr/>
          </a:p>
        </p:txBody>
      </p:sp>
      <p:sp>
        <p:nvSpPr>
          <p:cNvPr id="252" name="Google Shape;252;p35"/>
          <p:cNvSpPr txBox="1"/>
          <p:nvPr>
            <p:ph idx="1" type="body"/>
          </p:nvPr>
        </p:nvSpPr>
        <p:spPr>
          <a:xfrm>
            <a:off x="205200" y="2593000"/>
            <a:ext cx="8866800" cy="23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▷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Ring: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Nodes connected in a circular fashion. Each node is directly connected to its two neighbors.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▷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Chordal Ring: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enhanced ring network where additional shortcuts (chords) are added between non-adjacent nodes to reduce the diameter and improve communication latency.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▷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Barrel Shifter: 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ring topology with specific direct connections enabling bit-wise circular shifting. Each node connects to multiple others, supporting parallel communication patterns efficiently.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▷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Completely Connected Network: 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Every node is directly connected to every other node. Maximum connectivity ensures minimal communication latency but increases complexity and cost.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35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4" name="Google Shape;25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200" y="584012"/>
            <a:ext cx="8379602" cy="2008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6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Fixed Interconnect Networks</a:t>
            </a:r>
            <a:endParaRPr/>
          </a:p>
        </p:txBody>
      </p:sp>
      <p:sp>
        <p:nvSpPr>
          <p:cNvPr id="260" name="Google Shape;260;p36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1" name="Google Shape;26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1800" y="736400"/>
            <a:ext cx="6080394" cy="1849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9613" y="2649151"/>
            <a:ext cx="6744776" cy="225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7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6"/>
                </a:solidFill>
              </a:rPr>
              <a:t>‹#›</a:t>
            </a:fld>
            <a:endParaRPr>
              <a:solidFill>
                <a:schemeClr val="accent6"/>
              </a:solidFill>
            </a:endParaRPr>
          </a:p>
        </p:txBody>
      </p:sp>
      <p:sp>
        <p:nvSpPr>
          <p:cNvPr id="268" name="Google Shape;268;p37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 Interconnect Network</a:t>
            </a:r>
            <a:endParaRPr/>
          </a:p>
        </p:txBody>
      </p:sp>
      <p:sp>
        <p:nvSpPr>
          <p:cNvPr id="269" name="Google Shape;269;p37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Definition:</a:t>
            </a: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All nodes are connected to a single shared communication link.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0" name="Google Shape;27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6650" y="1435873"/>
            <a:ext cx="6121800" cy="201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7"/>
          <p:cNvSpPr/>
          <p:nvPr/>
        </p:nvSpPr>
        <p:spPr>
          <a:xfrm rot="-5400000">
            <a:off x="2860875" y="3754475"/>
            <a:ext cx="1124400" cy="522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Processor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2" name="Google Shape;272;p37"/>
          <p:cNvSpPr/>
          <p:nvPr/>
        </p:nvSpPr>
        <p:spPr>
          <a:xfrm rot="-5400000">
            <a:off x="3669450" y="3754475"/>
            <a:ext cx="1124400" cy="522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Processor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3" name="Google Shape;273;p37"/>
          <p:cNvSpPr/>
          <p:nvPr/>
        </p:nvSpPr>
        <p:spPr>
          <a:xfrm rot="-5400000">
            <a:off x="4634100" y="3754475"/>
            <a:ext cx="1124400" cy="522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Processor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4" name="Google Shape;274;p37"/>
          <p:cNvSpPr/>
          <p:nvPr/>
        </p:nvSpPr>
        <p:spPr>
          <a:xfrm rot="-5400000">
            <a:off x="5408400" y="3754475"/>
            <a:ext cx="1124400" cy="522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Processor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8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6"/>
                </a:solidFill>
              </a:rPr>
              <a:t>‹#›</a:t>
            </a:fld>
            <a:endParaRPr>
              <a:solidFill>
                <a:schemeClr val="accent6"/>
              </a:solidFill>
            </a:endParaRPr>
          </a:p>
        </p:txBody>
      </p:sp>
      <p:sp>
        <p:nvSpPr>
          <p:cNvPr id="280" name="Google Shape;280;p38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 Interconnect Network</a:t>
            </a:r>
            <a:endParaRPr/>
          </a:p>
        </p:txBody>
      </p:sp>
      <p:sp>
        <p:nvSpPr>
          <p:cNvPr id="281" name="Google Shape;281;p38"/>
          <p:cNvSpPr txBox="1"/>
          <p:nvPr>
            <p:ph idx="1" type="body"/>
          </p:nvPr>
        </p:nvSpPr>
        <p:spPr>
          <a:xfrm>
            <a:off x="205200" y="519225"/>
            <a:ext cx="85989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Advantages: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▷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Simple: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Straightforward design and easy to implement.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▷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Cost-Effective: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Ideal for systems with a small number of 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▷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Coherence Management: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Simplifies cache coherence 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through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snooping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serialization mechanisms.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Disadvantages: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▷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Limited Scalability: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Bandwidth is shared among all nodes.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Electrical loading reduces operating frequency as more nodes are added.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▷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Contention: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Shared link leads to frequent contention for access.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Saturates quickly as the number of nodes or traffic increases.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2" name="Google Shape;28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6075" y="816138"/>
            <a:ext cx="3253201" cy="1846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9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6"/>
                </a:solidFill>
              </a:rPr>
              <a:t>‹#›</a:t>
            </a:fld>
            <a:endParaRPr>
              <a:solidFill>
                <a:schemeClr val="accent6"/>
              </a:solidFill>
            </a:endParaRPr>
          </a:p>
        </p:txBody>
      </p:sp>
      <p:sp>
        <p:nvSpPr>
          <p:cNvPr id="288" name="Google Shape;288;p39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 to Point Networks</a:t>
            </a:r>
            <a:endParaRPr/>
          </a:p>
        </p:txBody>
      </p:sp>
      <p:sp>
        <p:nvSpPr>
          <p:cNvPr id="289" name="Google Shape;289;p39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Definition: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Every node is connected directly to every other node using dedicated links.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0" name="Google Shape;290;p39"/>
          <p:cNvGrpSpPr/>
          <p:nvPr/>
        </p:nvGrpSpPr>
        <p:grpSpPr>
          <a:xfrm>
            <a:off x="2612950" y="1282800"/>
            <a:ext cx="4111773" cy="3727627"/>
            <a:chOff x="2612950" y="1282800"/>
            <a:chExt cx="4111773" cy="3727627"/>
          </a:xfrm>
        </p:grpSpPr>
        <p:pic>
          <p:nvPicPr>
            <p:cNvPr id="291" name="Google Shape;291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54050" y="1282800"/>
              <a:ext cx="3870673" cy="37276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2" name="Google Shape;292;p39"/>
            <p:cNvSpPr/>
            <p:nvPr/>
          </p:nvSpPr>
          <p:spPr>
            <a:xfrm>
              <a:off x="2612950" y="4620900"/>
              <a:ext cx="759300" cy="38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0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6"/>
                </a:solidFill>
              </a:rPr>
              <a:t>‹#›</a:t>
            </a:fld>
            <a:endParaRPr>
              <a:solidFill>
                <a:schemeClr val="accent6"/>
              </a:solidFill>
            </a:endParaRPr>
          </a:p>
        </p:txBody>
      </p:sp>
      <p:sp>
        <p:nvSpPr>
          <p:cNvPr id="298" name="Google Shape;298;p40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 to Point Networks</a:t>
            </a:r>
            <a:endParaRPr/>
          </a:p>
        </p:txBody>
      </p:sp>
      <p:sp>
        <p:nvSpPr>
          <p:cNvPr id="299" name="Google Shape;299;p40"/>
          <p:cNvSpPr txBox="1"/>
          <p:nvPr>
            <p:ph idx="1" type="body"/>
          </p:nvPr>
        </p:nvSpPr>
        <p:spPr>
          <a:xfrm>
            <a:off x="205200" y="519225"/>
            <a:ext cx="58059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Advantages: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▷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Lowest Contention: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 sharing of links, eliminating contention for resources.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▷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Lowest Latency: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Direct connections ensure minimal communication delay.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▷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Ideal Performance: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Perfect for systems where cost is not a constraint.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Disadvantages: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▷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Cost: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O(N)  ports per node.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O(N</a:t>
            </a:r>
            <a:r>
              <a:rPr baseline="30000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 links required for  N  nodes.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▷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 Scalable: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Exponential growth in hardware cost makes it impractical for large systems.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▷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Layout Challenges: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Difficult to physically lay out all the connections on a chip.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0" name="Google Shape;300;p40"/>
          <p:cNvGrpSpPr/>
          <p:nvPr/>
        </p:nvGrpSpPr>
        <p:grpSpPr>
          <a:xfrm>
            <a:off x="5901502" y="849585"/>
            <a:ext cx="2941562" cy="2823304"/>
            <a:chOff x="2612950" y="1282800"/>
            <a:chExt cx="4111773" cy="3727627"/>
          </a:xfrm>
        </p:grpSpPr>
        <p:pic>
          <p:nvPicPr>
            <p:cNvPr id="301" name="Google Shape;301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54050" y="1282800"/>
              <a:ext cx="3870673" cy="37276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2" name="Google Shape;302;p40"/>
            <p:cNvSpPr/>
            <p:nvPr/>
          </p:nvSpPr>
          <p:spPr>
            <a:xfrm>
              <a:off x="2612950" y="4620900"/>
              <a:ext cx="759300" cy="38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1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6"/>
                </a:solidFill>
              </a:rPr>
              <a:t>‹#›</a:t>
            </a:fld>
            <a:endParaRPr>
              <a:solidFill>
                <a:schemeClr val="accent6"/>
              </a:solidFill>
            </a:endParaRPr>
          </a:p>
        </p:txBody>
      </p:sp>
      <p:sp>
        <p:nvSpPr>
          <p:cNvPr id="308" name="Google Shape;308;p41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Crossbar Interconnect Networks</a:t>
            </a:r>
            <a:endParaRPr/>
          </a:p>
        </p:txBody>
      </p:sp>
      <p:sp>
        <p:nvSpPr>
          <p:cNvPr id="309" name="Google Shape;309;p41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▷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Definition: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Every node is connected to every other node via a shared link for each destination.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▷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Feature: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Enables concurrent transfers to non-conflicting destinations.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0" name="Google Shape;31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7149" y="1345800"/>
            <a:ext cx="3610036" cy="35951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2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6"/>
                </a:solidFill>
              </a:rPr>
              <a:t>‹#›</a:t>
            </a:fld>
            <a:endParaRPr>
              <a:solidFill>
                <a:schemeClr val="accent6"/>
              </a:solidFill>
            </a:endParaRPr>
          </a:p>
        </p:txBody>
      </p:sp>
      <p:sp>
        <p:nvSpPr>
          <p:cNvPr id="316" name="Google Shape;316;p42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Crossbar Interconnect Networks</a:t>
            </a:r>
            <a:endParaRPr/>
          </a:p>
        </p:txBody>
      </p:sp>
      <p:sp>
        <p:nvSpPr>
          <p:cNvPr id="317" name="Google Shape;317;p42"/>
          <p:cNvSpPr txBox="1"/>
          <p:nvPr>
            <p:ph idx="1" type="body"/>
          </p:nvPr>
        </p:nvSpPr>
        <p:spPr>
          <a:xfrm>
            <a:off x="184675" y="360900"/>
            <a:ext cx="82959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Advantages: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▷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 Latency: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Direct connections ensure minimal communication 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delays.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▷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Throughput: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Supports multiple simultaneous data transfers 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without interference.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▷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Cost-Effective (Small Systems):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Works well for systems with a small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number of nodes.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Disadvantages: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▷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Cost: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O(N</a:t>
            </a:r>
            <a:r>
              <a:rPr baseline="3000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 connections, leading to exponential growth in cost as the number of nodes increases.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▷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Poor Scalability: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Unsuitable for large systems due to link and hardware complexity.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▷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Arbitration Complexity: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Managing access to shared links becomes challenging as  N  grows.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▷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Applications: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in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core-to-cache-bank networks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" name="Google Shape;31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5775" y="682201"/>
            <a:ext cx="2479826" cy="2469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3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Buffered vs. Bufferless Xbars </a:t>
            </a:r>
            <a:endParaRPr/>
          </a:p>
        </p:txBody>
      </p:sp>
      <p:sp>
        <p:nvSpPr>
          <p:cNvPr id="324" name="Google Shape;324;p43"/>
          <p:cNvSpPr txBox="1"/>
          <p:nvPr>
            <p:ph idx="1" type="body"/>
          </p:nvPr>
        </p:nvSpPr>
        <p:spPr>
          <a:xfrm>
            <a:off x="205200" y="519225"/>
            <a:ext cx="42540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Bufferless Crossbar: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▷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crossbar switch without internal buffering.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▷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Packets are directly forwarded to outputs based on arbitration decisions.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Buffered Crossbar: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▷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crossbar switch with internal buffers at each crosspoint.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▷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Packets are temporarily stored when contention occurs.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325" name="Google Shape;325;p43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6" name="Google Shape;32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9300" y="707925"/>
            <a:ext cx="4569976" cy="356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4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Buffered Xbars </a:t>
            </a:r>
            <a:endParaRPr/>
          </a:p>
        </p:txBody>
      </p:sp>
      <p:sp>
        <p:nvSpPr>
          <p:cNvPr id="332" name="Google Shape;332;p44"/>
          <p:cNvSpPr txBox="1"/>
          <p:nvPr>
            <p:ph idx="1" type="body"/>
          </p:nvPr>
        </p:nvSpPr>
        <p:spPr>
          <a:xfrm>
            <a:off x="205200" y="519225"/>
            <a:ext cx="84960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Advantages of Buffered Crossbars: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▷"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Simpler Arbitration/Scheduling: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Buffers reduce contention, simplifying the need for complex arbitration mechanisms.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▷"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 for Variable-Size Packets: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Packets of different sizes can be stored in buffers, enabling flexible communication.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Disadvantages of Buffered Crossbars: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▷"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Higher Hardware Cost: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Requires  N</a:t>
            </a:r>
            <a:r>
              <a:rPr baseline="3000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buffers, where  N  is the number of input/output ports.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▷"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Increased Latency: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Buffering packets can introduce additional delays.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44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5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Bufferless Xbars </a:t>
            </a:r>
            <a:endParaRPr/>
          </a:p>
        </p:txBody>
      </p:sp>
      <p:sp>
        <p:nvSpPr>
          <p:cNvPr id="339" name="Google Shape;339;p45"/>
          <p:cNvSpPr txBox="1"/>
          <p:nvPr>
            <p:ph idx="1" type="body"/>
          </p:nvPr>
        </p:nvSpPr>
        <p:spPr>
          <a:xfrm>
            <a:off x="205200" y="519225"/>
            <a:ext cx="84960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Advantages of Bufferless Crossbars: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▷"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Lower Complexity: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need for  N</a:t>
            </a:r>
            <a:r>
              <a:rPr baseline="30000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buffers or associated control logic.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▷"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Energy-Efficient: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Eliminates power consumption associated with managing buffers.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Disadvantages of Bufferless Crossbars: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▷"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Complex Arbitration: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Requires sophisticated arbitration mechanisms to resolve output contention.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▷"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Packet Drops: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Packets are dropped when contention occurs due to lack of buffering.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5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6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NVIDIA NVSwitch, which is a high-performance interconnect</a:t>
            </a:r>
            <a:endParaRPr sz="2200"/>
          </a:p>
        </p:txBody>
      </p:sp>
      <p:sp>
        <p:nvSpPr>
          <p:cNvPr id="346" name="Google Shape;346;p46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▷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Designed for large-scale GPU communication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▷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is a critical component in NVIDIA’s data center and high-performance computing (HPC) solutions, such as the </a:t>
            </a: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NVIDIA DGX systems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347" name="Google Shape;347;p46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8" name="Google Shape;34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050" y="2007383"/>
            <a:ext cx="8295901" cy="2539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7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NVIDIA NVSwitch, which is a high-performance interconnect</a:t>
            </a:r>
            <a:endParaRPr sz="2200"/>
          </a:p>
        </p:txBody>
      </p:sp>
      <p:sp>
        <p:nvSpPr>
          <p:cNvPr id="354" name="Google Shape;354;p47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NVLink Interconnects: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▷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NVLink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NVIDIA’s proprietary high-speed, point-to-point interconnect for GPUs.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▷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NVSwitch integrates multiple NVLink connections to enable direct communication between GPUs in a system.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▷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NVSwitch supports </a:t>
            </a: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NVLink 3.0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with up to </a:t>
            </a: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900 GB/s of aggregate bandwidth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47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6" name="Google Shape;35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1000" y="2673475"/>
            <a:ext cx="6861302" cy="2100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7" name="Google Shape;357;p47"/>
          <p:cNvCxnSpPr/>
          <p:nvPr/>
        </p:nvCxnSpPr>
        <p:spPr>
          <a:xfrm>
            <a:off x="1467375" y="1042600"/>
            <a:ext cx="759300" cy="24843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8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NVIDIA NVSwitch, which is a high-performance interconnect</a:t>
            </a:r>
            <a:endParaRPr sz="2200"/>
          </a:p>
        </p:txBody>
      </p:sp>
      <p:sp>
        <p:nvSpPr>
          <p:cNvPr id="363" name="Google Shape;363;p48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Crossbar (XBAR):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▷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crossbar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the core switching fabric within the NVSwitch.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▷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connects GPUs to one another by routing data packets from one NVLink interface to another with minimal latency.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▷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XBAR facilitates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non-blocking concurrent data transfers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across all GPUs in the system.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48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65" name="Google Shape;36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1000" y="2673475"/>
            <a:ext cx="6861302" cy="2100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6" name="Google Shape;366;p48"/>
          <p:cNvCxnSpPr/>
          <p:nvPr/>
        </p:nvCxnSpPr>
        <p:spPr>
          <a:xfrm>
            <a:off x="1467375" y="1042600"/>
            <a:ext cx="2278200" cy="25872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9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NVIDIA NVSwitch, which is a high-performance interconnect</a:t>
            </a:r>
            <a:endParaRPr sz="2200"/>
          </a:p>
        </p:txBody>
      </p:sp>
      <p:sp>
        <p:nvSpPr>
          <p:cNvPr id="372" name="Google Shape;372;p49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Module: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▷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Responsible for coordinating the NVSwitch’s operations, such as routing, arbitration, and load balancing.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▷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Ensures efficient utilization of the interconnect bandwidth.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Forwarding Logic: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▷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Optimized packet forwarding between NVLinks based on source and destination GPU.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▷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Enables multi-hop communication between GPUs not directly connected by NVLinks.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49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74" name="Google Shape;37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2000" y="2902075"/>
            <a:ext cx="6861302" cy="210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0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How NVSwitch Works</a:t>
            </a:r>
            <a:endParaRPr sz="2200"/>
          </a:p>
        </p:txBody>
      </p:sp>
      <p:sp>
        <p:nvSpPr>
          <p:cNvPr id="380" name="Google Shape;380;p50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▷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systems with multiple GPUs (e.g., NVIDIA DGX A100 or H100), NVSwitch acts as a central interconnect, allowing any GPU to communicate with any other GPU directly, regardless of physical placement.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▷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crossbar within the NVSwitch enables </a:t>
            </a: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full-bandwidth, all-to-all GPU communication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avoiding bottlenecks typical in other interconnect topologies.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50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82" name="Google Shape;38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2000" y="2597275"/>
            <a:ext cx="6861302" cy="210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1"/>
          <p:cNvSpPr txBox="1"/>
          <p:nvPr>
            <p:ph idx="1" type="body"/>
          </p:nvPr>
        </p:nvSpPr>
        <p:spPr>
          <a:xfrm>
            <a:off x="397500" y="1666650"/>
            <a:ext cx="8349000" cy="18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400">
                <a:latin typeface="Arial"/>
                <a:ea typeface="Arial"/>
                <a:cs typeface="Arial"/>
                <a:sym typeface="Arial"/>
              </a:rPr>
              <a:t>Can We Get Lower Cost than A </a:t>
            </a:r>
            <a:r>
              <a:rPr b="1" lang="en" sz="3400">
                <a:latin typeface="Arial"/>
                <a:ea typeface="Arial"/>
                <a:cs typeface="Arial"/>
                <a:sym typeface="Arial"/>
              </a:rPr>
              <a:t>Crossbar</a:t>
            </a:r>
            <a:r>
              <a:rPr lang="en" sz="3400">
                <a:latin typeface="Arial"/>
                <a:ea typeface="Arial"/>
                <a:cs typeface="Arial"/>
                <a:sym typeface="Arial"/>
              </a:rPr>
              <a:t> and yet still have low contention compared to a </a:t>
            </a:r>
            <a:r>
              <a:rPr b="1" lang="en" sz="3400">
                <a:latin typeface="Arial"/>
                <a:ea typeface="Arial"/>
                <a:cs typeface="Arial"/>
                <a:sym typeface="Arial"/>
              </a:rPr>
              <a:t>Bus</a:t>
            </a:r>
            <a:r>
              <a:rPr lang="en" sz="3400">
                <a:latin typeface="Arial"/>
                <a:ea typeface="Arial"/>
                <a:cs typeface="Arial"/>
                <a:sym typeface="Arial"/>
              </a:rPr>
              <a:t>?</a:t>
            </a:r>
            <a:endParaRPr sz="3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51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2"/>
          <p:cNvSpPr txBox="1"/>
          <p:nvPr>
            <p:ph type="title"/>
          </p:nvPr>
        </p:nvSpPr>
        <p:spPr>
          <a:xfrm>
            <a:off x="83700" y="61400"/>
            <a:ext cx="82959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394" name="Google Shape;394;p52"/>
          <p:cNvSpPr txBox="1"/>
          <p:nvPr>
            <p:ph idx="1" type="body"/>
          </p:nvPr>
        </p:nvSpPr>
        <p:spPr>
          <a:xfrm>
            <a:off x="205200" y="519225"/>
            <a:ext cx="88668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"/>
              <a:t>Introduction to Parallel Computing" by Ananth Grama, Anshul Gupta, George Karypis, and Vipin Kumar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▷"/>
            </a:pPr>
            <a:r>
              <a:rPr lang="en"/>
              <a:t>Computer Architecture: A Quantitative Approach" by John L. Hennessy and David A. Patterson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▷"/>
            </a:pPr>
            <a:r>
              <a:rPr lang="en"/>
              <a:t>Eth Zurich - Computer Architecture Lectures</a:t>
            </a:r>
            <a:endParaRPr/>
          </a:p>
        </p:txBody>
      </p:sp>
      <p:sp>
        <p:nvSpPr>
          <p:cNvPr id="395" name="Google Shape;395;p52"/>
          <p:cNvSpPr txBox="1"/>
          <p:nvPr>
            <p:ph idx="12" type="sldNum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ASA_GES_DISC_SIMPLE">
  <a:themeElements>
    <a:clrScheme name="Custom 347">
      <a:dk1>
        <a:srgbClr val="677480"/>
      </a:dk1>
      <a:lt1>
        <a:srgbClr val="FFFFFF"/>
      </a:lt1>
      <a:dk2>
        <a:srgbClr val="2185C5"/>
      </a:dk2>
      <a:lt2>
        <a:srgbClr val="DEE2E6"/>
      </a:lt2>
      <a:accent1>
        <a:srgbClr val="2185C5"/>
      </a:accent1>
      <a:accent2>
        <a:srgbClr val="7ECEFD"/>
      </a:accent2>
      <a:accent3>
        <a:srgbClr val="F20253"/>
      </a:accent3>
      <a:accent4>
        <a:srgbClr val="FF9715"/>
      </a:accent4>
      <a:accent5>
        <a:srgbClr val="1C3AA9"/>
      </a:accent5>
      <a:accent6>
        <a:srgbClr val="97ABBC"/>
      </a:accent6>
      <a:hlink>
        <a:srgbClr val="2185C5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