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</p:sldIdLst>
  <p:sldSz cy="5143500" cx="9144000"/>
  <p:notesSz cx="6858000" cy="9144000"/>
  <p:embeddedFontLst>
    <p:embeddedFont>
      <p:font typeface="Raleway"/>
      <p:regular r:id="rId102"/>
      <p:bold r:id="rId103"/>
      <p:italic r:id="rId104"/>
      <p:boldItalic r:id="rId105"/>
    </p:embeddedFont>
    <p:embeddedFont>
      <p:font typeface="Roboto"/>
      <p:regular r:id="rId106"/>
      <p:bold r:id="rId107"/>
      <p:italic r:id="rId108"/>
      <p:boldItalic r:id="rId109"/>
    </p:embeddedFont>
    <p:embeddedFont>
      <p:font typeface="Lato"/>
      <p:regular r:id="rId110"/>
      <p:bold r:id="rId111"/>
      <p:italic r:id="rId112"/>
      <p:boldItalic r:id="rId113"/>
    </p:embeddedFont>
    <p:embeddedFont>
      <p:font typeface="Book Antiqua"/>
      <p:regular r:id="rId114"/>
      <p:bold r:id="rId115"/>
      <p:italic r:id="rId116"/>
      <p:boldItalic r:id="rId117"/>
    </p:embeddedFont>
    <p:embeddedFont>
      <p:font typeface="Noto Sans Symbols"/>
      <p:regular r:id="rId118"/>
      <p:bold r:id="rId119"/>
    </p:embeddedFont>
    <p:embeddedFont>
      <p:font typeface="Roboto Mono"/>
      <p:regular r:id="rId120"/>
      <p:bold r:id="rId121"/>
      <p:italic r:id="rId122"/>
      <p:boldItalic r:id="rId1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C07EFC-7DB3-4477-A680-E539B6BD7332}">
  <a:tblStyle styleId="{79C07EFC-7DB3-4477-A680-E539B6BD73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E8AC840-8123-419E-A546-38D8697571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Roboto-bold.fntdata"/><Relationship Id="rId106" Type="http://schemas.openxmlformats.org/officeDocument/2006/relationships/font" Target="fonts/Roboto-regular.fntdata"/><Relationship Id="rId105" Type="http://schemas.openxmlformats.org/officeDocument/2006/relationships/font" Target="fonts/Raleway-boldItalic.fntdata"/><Relationship Id="rId104" Type="http://schemas.openxmlformats.org/officeDocument/2006/relationships/font" Target="fonts/Raleway-italic.fntdata"/><Relationship Id="rId109" Type="http://schemas.openxmlformats.org/officeDocument/2006/relationships/font" Target="fonts/Roboto-boldItalic.fntdata"/><Relationship Id="rId108" Type="http://schemas.openxmlformats.org/officeDocument/2006/relationships/font" Target="fonts/Roboto-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Raleway-bold.fntdata"/><Relationship Id="rId102" Type="http://schemas.openxmlformats.org/officeDocument/2006/relationships/font" Target="fonts/Raleway-regular.fntdata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font" Target="fonts/RobotoMono-bold.fntdata"/><Relationship Id="rId25" Type="http://schemas.openxmlformats.org/officeDocument/2006/relationships/slide" Target="slides/slide20.xml"/><Relationship Id="rId120" Type="http://schemas.openxmlformats.org/officeDocument/2006/relationships/font" Target="fonts/Roboto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23" Type="http://schemas.openxmlformats.org/officeDocument/2006/relationships/font" Target="fonts/RobotoMono-boldItalic.fntdata"/><Relationship Id="rId122" Type="http://schemas.openxmlformats.org/officeDocument/2006/relationships/font" Target="fonts/RobotoMono-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NotoSansSymbols-regular.fntdata"/><Relationship Id="rId117" Type="http://schemas.openxmlformats.org/officeDocument/2006/relationships/font" Target="fonts/BookAntiqua-boldItalic.fntdata"/><Relationship Id="rId116" Type="http://schemas.openxmlformats.org/officeDocument/2006/relationships/font" Target="fonts/BookAntiqua-italic.fntdata"/><Relationship Id="rId115" Type="http://schemas.openxmlformats.org/officeDocument/2006/relationships/font" Target="fonts/BookAntiqua-bold.fntdata"/><Relationship Id="rId119" Type="http://schemas.openxmlformats.org/officeDocument/2006/relationships/font" Target="fonts/NotoSansSymbols-bold.fntdata"/><Relationship Id="rId15" Type="http://schemas.openxmlformats.org/officeDocument/2006/relationships/slide" Target="slides/slide10.xml"/><Relationship Id="rId110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BookAntiqua-regular.fntdata"/><Relationship Id="rId18" Type="http://schemas.openxmlformats.org/officeDocument/2006/relationships/slide" Target="slides/slide13.xml"/><Relationship Id="rId113" Type="http://schemas.openxmlformats.org/officeDocument/2006/relationships/font" Target="fonts/Lato-boldItalic.fntdata"/><Relationship Id="rId112" Type="http://schemas.openxmlformats.org/officeDocument/2006/relationships/font" Target="fonts/Lato-italic.fntdata"/><Relationship Id="rId111" Type="http://schemas.openxmlformats.org/officeDocument/2006/relationships/font" Target="fonts/Lato-bold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e4605123a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e4605123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e4605123a_1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e4605123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e4605123a_1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e4605123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e4605123a_1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e4605123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e4605123a_1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e4605123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e4605123a_1_7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2e4605123a_1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e4605123a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e4605123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e4605123a_1_2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e4605123a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Processor (CPU):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processor performs the actual computation and control functions. It contains: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Registers: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Small, fast storage locations for temporary data.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Used to hold operands, intermediate results, and addresses during computation.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Arithmetic Logic Unit (ALU):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Performs mathematical (addition, subtraction, etc.) and logical operations (AND, OR, NOT, etc.).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Control Unit (CU):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Manages and coordinates the execution of instructions by directing data flow between the memory, ALU, and input/output devices.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Instruction Register (IR):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Holds the current instruction being executed.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Micro-Instruction Register (µ-Instruction Register):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Typically used in microprogrammed control units to store low-level control instructions that implement the machine instructions.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Memory: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shared memory holds both program instructions and data: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Program Memory: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Stores instructions for the CPU to execute.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Data Memory: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Stores data that the instructions operate 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reflects the </a:t>
            </a:r>
            <a:r>
              <a:rPr b="1" lang="en">
                <a:solidFill>
                  <a:schemeClr val="dk1"/>
                </a:solidFill>
              </a:rPr>
              <a:t>stored program concept</a:t>
            </a:r>
            <a:r>
              <a:rPr lang="en">
                <a:solidFill>
                  <a:schemeClr val="dk1"/>
                </a:solidFill>
              </a:rPr>
              <a:t>, where programs and data reside in the same memory space.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Communication between Processor and Memory: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Address Line: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processor uses this line to specify the memory location it wants to access (for either an instruction or data).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Data/Instructions Line: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Transmits the actual data or instructions between the memory and processor.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e4605123a_1_3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2e4605123a_1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e4605123a_1_1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e4605123a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e4605123a_1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e4605123a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e4605123a_1_3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e4605123a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4605123a_1_3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e4605123a_1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e4605123a_1_3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e4605123a_1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e4605123a_1_3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2e4605123a_1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e4605123a_1_4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2e4605123a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2e4605123a_1_4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2e4605123a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e4605123a_1_4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2e4605123a_1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e4605123a_1_4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2e4605123a_1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e4605123a_1_5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2e4605123a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2e4605123a_1_5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2e4605123a_1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2e4605123a_1_5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2e4605123a_1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2e4605123a_1_5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2e4605123a_1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2e4605123a_1_7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2e4605123a_1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e4605123a_1_7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2e4605123a_1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2e4605123a_1_7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2e4605123a_1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2e4605123a_1_7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2e4605123a_1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2e4605123a_1_7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2e4605123a_1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2e4605123a_1_7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2e4605123a_1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2e4605123a_1_7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2e4605123a_1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2e4605123a_1_8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2e4605123a_1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2e4605123a_1_8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2e4605123a_1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2e4605123a_1_8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2e4605123a_1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2e4605123a_1_8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2e4605123a_1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2e4605123a_1_8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2e4605123a_1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2e4605123a_1_9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2e4605123a_1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Explain Throughput:</a:t>
            </a:r>
            <a:r>
              <a:rPr lang="en">
                <a:solidFill>
                  <a:schemeClr val="dk1"/>
                </a:solidFill>
              </a:rPr>
              <a:t> Emphasize that pipelining improves throughput, not latency (time for a single task).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Relate to Real Hardware:</a:t>
            </a:r>
            <a:r>
              <a:rPr lang="en">
                <a:solidFill>
                  <a:schemeClr val="dk1"/>
                </a:solidFill>
              </a:rPr>
              <a:t> Mention modern CPUs and GPUs use deep instruction pipelines to achieve high performance.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2e4605123a_1_9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2e4605123a_1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WAR (Write After Read):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assembly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CopyEdit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 R2, 0(R3)  // Reads R2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R2, R4, R5  // Writes to R2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Conflict if the read isn't finished before the write.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WAW (Write After Write):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assembly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CopyEdit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R1, R2, R3  // Writes to R1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 R1, R4, R5  // Writes to R1 again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Conflict when two instructions write to the same register in the wrong order.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2e4605123a_1_9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2e4605123a_1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2e4605123a_1_9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2e4605123a_1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Explanation of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BEQ R1, R2, LABEL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BEQ (Branch if Equal):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mnemonic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BEQ</a:t>
            </a:r>
            <a:r>
              <a:rPr lang="en">
                <a:solidFill>
                  <a:schemeClr val="dk1"/>
                </a:solidFill>
              </a:rPr>
              <a:t> stands for </a:t>
            </a:r>
            <a:r>
              <a:rPr b="1" lang="en">
                <a:solidFill>
                  <a:schemeClr val="dk1"/>
                </a:solidFill>
              </a:rPr>
              <a:t>"Branch if Equal."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instruction checks whether the values in registers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R2</a:t>
            </a:r>
            <a:r>
              <a:rPr lang="en">
                <a:solidFill>
                  <a:schemeClr val="dk1"/>
                </a:solidFill>
              </a:rPr>
              <a:t> are equal.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Condition: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 == R2</a:t>
            </a:r>
            <a:r>
              <a:rPr lang="en">
                <a:solidFill>
                  <a:schemeClr val="dk1"/>
                </a:solidFill>
              </a:rPr>
              <a:t>, the program control jumps (branches) to the address specified by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 != R2</a:t>
            </a:r>
            <a:r>
              <a:rPr lang="en">
                <a:solidFill>
                  <a:schemeClr val="dk1"/>
                </a:solidFill>
              </a:rPr>
              <a:t>, the next sequential instruction is executed.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LABEL: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n">
                <a:solidFill>
                  <a:schemeClr val="dk1"/>
                </a:solidFill>
              </a:rPr>
              <a:t> is a symbolic name representing a specific address in memory. It typically marks the beginning of a different block of instructions elsewhere in the program.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Behavior in Pipelines: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While the processor determines whether to branch or not (evaluates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R1 == R2</a:t>
            </a:r>
            <a:r>
              <a:rPr lang="en">
                <a:solidFill>
                  <a:schemeClr val="dk1"/>
                </a:solidFill>
              </a:rPr>
              <a:t>), the pipeline might </a:t>
            </a:r>
            <a:r>
              <a:rPr b="1" lang="en">
                <a:solidFill>
                  <a:schemeClr val="dk1"/>
                </a:solidFill>
              </a:rPr>
              <a:t>stall</a:t>
            </a:r>
            <a:r>
              <a:rPr lang="en">
                <a:solidFill>
                  <a:schemeClr val="dk1"/>
                </a:solidFill>
              </a:rPr>
              <a:t>because it doesn't yet know which instruction to fetch next.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creates a </a:t>
            </a:r>
            <a:r>
              <a:rPr b="1" lang="en">
                <a:solidFill>
                  <a:schemeClr val="dk1"/>
                </a:solidFill>
              </a:rPr>
              <a:t>control hazard</a:t>
            </a:r>
            <a:r>
              <a:rPr lang="en">
                <a:solidFill>
                  <a:schemeClr val="dk1"/>
                </a:solidFill>
              </a:rPr>
              <a:t> if the decision to branch isn't resolved quickly.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2e4605123a_1_9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2e4605123a_1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e4605123a_1_9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2e4605123a_1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2e4605123a_1_13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2e4605123a_1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2e4605123a_1_9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2e4605123a_1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Legacy and Modern Usage: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Historical vector machines like </a:t>
            </a:r>
            <a:r>
              <a:rPr b="1" lang="en">
                <a:solidFill>
                  <a:schemeClr val="dk1"/>
                </a:solidFill>
              </a:rPr>
              <a:t>Cray-1</a:t>
            </a:r>
            <a:r>
              <a:rPr lang="en">
                <a:solidFill>
                  <a:schemeClr val="dk1"/>
                </a:solidFill>
              </a:rPr>
              <a:t> introduced these concepts.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Today, </a:t>
            </a:r>
            <a:r>
              <a:rPr b="1" lang="en">
                <a:solidFill>
                  <a:schemeClr val="dk1"/>
                </a:solidFill>
              </a:rPr>
              <a:t>SIMD extensions (Intel AVX, ARM NEON)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GPUs</a:t>
            </a:r>
            <a:r>
              <a:rPr lang="en">
                <a:solidFill>
                  <a:schemeClr val="dk1"/>
                </a:solidFill>
              </a:rPr>
              <a:t> embody vector processing principles.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2e4605123a_1_10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2e4605123a_1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2e4605123a_1_10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2e4605123a_1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2e4605123a_1_10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2e4605123a_1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2e4605123a_1_10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2e4605123a_1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2e4605123a_1_1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2e4605123a_1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2e4605123a_1_11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2e4605123a_1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2e4605123a_1_12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2e4605123a_1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2e4605123a_1_12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2e4605123a_1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2e4605123a_1_13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2e4605123a_1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2e4605123a_1_13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2e4605123a_1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2e4605123a_1_13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2e4605123a_1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2e4605123a_1_13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2e4605123a_1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2e4605123a_1_13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2e4605123a_1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2e4605123a_1_14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2e4605123a_1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2e4605123a_1_13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32e4605123a_1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2e4605123a_1_14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2e4605123a_1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2e4605123a_1_14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2e4605123a_1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2e4605123a_1_14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2e4605123a_1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2e4605123a_1_14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2e4605123a_1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2e4605123a_1_14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2e4605123a_1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291ec14ff4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291ec14f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NUMA (Non-Uniform Memory Access)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Definition: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a </a:t>
            </a:r>
            <a:r>
              <a:rPr b="1" lang="en">
                <a:solidFill>
                  <a:schemeClr val="dk1"/>
                </a:solidFill>
              </a:rPr>
              <a:t>NUMA system</a:t>
            </a:r>
            <a:r>
              <a:rPr lang="en">
                <a:solidFill>
                  <a:schemeClr val="dk1"/>
                </a:solidFill>
              </a:rPr>
              <a:t>, each processor has faster access to its </a:t>
            </a:r>
            <a:r>
              <a:rPr b="1" lang="en">
                <a:solidFill>
                  <a:schemeClr val="dk1"/>
                </a:solidFill>
              </a:rPr>
              <a:t>local memory</a:t>
            </a:r>
            <a:r>
              <a:rPr lang="en">
                <a:solidFill>
                  <a:schemeClr val="dk1"/>
                </a:solidFill>
              </a:rPr>
              <a:t> and slower access to </a:t>
            </a:r>
            <a:r>
              <a:rPr b="1" lang="en">
                <a:solidFill>
                  <a:schemeClr val="dk1"/>
                </a:solidFill>
              </a:rPr>
              <a:t>remote memory</a:t>
            </a:r>
            <a:r>
              <a:rPr lang="en">
                <a:solidFill>
                  <a:schemeClr val="dk1"/>
                </a:solidFill>
              </a:rPr>
              <a:t> (memory attached to other processors).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Features: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Processors can access all memory in the system (shared memory model), but the access time depends on whether the memory is local or remote.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Designed to improve scalability by reducing contention on a single memory bus.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 Systems: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Modern multi-core processors like </a:t>
            </a:r>
            <a:r>
              <a:rPr b="1" lang="en">
                <a:solidFill>
                  <a:schemeClr val="dk1"/>
                </a:solidFill>
              </a:rPr>
              <a:t>AMD EPYC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Intel Xeon</a:t>
            </a:r>
            <a:r>
              <a:rPr lang="en">
                <a:solidFill>
                  <a:schemeClr val="dk1"/>
                </a:solidFill>
              </a:rPr>
              <a:t> with multiple memory controllers.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HPC systems like </a:t>
            </a:r>
            <a:r>
              <a:rPr b="1" lang="en">
                <a:solidFill>
                  <a:schemeClr val="dk1"/>
                </a:solidFill>
              </a:rPr>
              <a:t>HPE Cray EX</a:t>
            </a:r>
            <a:r>
              <a:rPr lang="en">
                <a:solidFill>
                  <a:schemeClr val="dk1"/>
                </a:solidFill>
              </a:rPr>
              <a:t> and some supercomputers.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NORMA (No Remote Memory Access)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Definition: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a </a:t>
            </a:r>
            <a:r>
              <a:rPr b="1" lang="en">
                <a:solidFill>
                  <a:schemeClr val="dk1"/>
                </a:solidFill>
              </a:rPr>
              <a:t>NORMA system</a:t>
            </a:r>
            <a:r>
              <a:rPr lang="en">
                <a:solidFill>
                  <a:schemeClr val="dk1"/>
                </a:solidFill>
              </a:rPr>
              <a:t>, each processor has its own </a:t>
            </a:r>
            <a:r>
              <a:rPr b="1" lang="en">
                <a:solidFill>
                  <a:schemeClr val="dk1"/>
                </a:solidFill>
              </a:rPr>
              <a:t>private memory</a:t>
            </a:r>
            <a:r>
              <a:rPr lang="en">
                <a:solidFill>
                  <a:schemeClr val="dk1"/>
                </a:solidFill>
              </a:rPr>
              <a:t>, and processors </a:t>
            </a:r>
            <a:r>
              <a:rPr b="1" lang="en">
                <a:solidFill>
                  <a:schemeClr val="dk1"/>
                </a:solidFill>
              </a:rPr>
              <a:t>cannot access each other's memory directly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Communication between processors is done through message passing.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Features: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shared address space. Each processor operates independently on its local data.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Suited for </a:t>
            </a:r>
            <a:r>
              <a:rPr b="1" lang="en">
                <a:solidFill>
                  <a:schemeClr val="dk1"/>
                </a:solidFill>
              </a:rPr>
              <a:t>distributed memory systems</a:t>
            </a:r>
            <a:r>
              <a:rPr lang="en">
                <a:solidFill>
                  <a:schemeClr val="dk1"/>
                </a:solidFill>
              </a:rPr>
              <a:t>, like clusters.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 Systems: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Classic clusters or multicomputers.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Example: IBM </a:t>
            </a:r>
            <a:r>
              <a:rPr b="1" lang="en">
                <a:solidFill>
                  <a:schemeClr val="dk1"/>
                </a:solidFill>
              </a:rPr>
              <a:t>Blue Gene</a:t>
            </a:r>
            <a:r>
              <a:rPr lang="en">
                <a:solidFill>
                  <a:schemeClr val="dk1"/>
                </a:solidFill>
              </a:rPr>
              <a:t>, modern MPI-based distributed systems.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UMA (Uniform Memory Access)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Definition: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a </a:t>
            </a:r>
            <a:r>
              <a:rPr b="1" lang="en">
                <a:solidFill>
                  <a:schemeClr val="dk1"/>
                </a:solidFill>
              </a:rPr>
              <a:t>UMA system</a:t>
            </a:r>
            <a:r>
              <a:rPr lang="en">
                <a:solidFill>
                  <a:schemeClr val="dk1"/>
                </a:solidFill>
              </a:rPr>
              <a:t>, all processors share the same memory, and the access time to any memory location is the same for all processors.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Uses a single centralized memory connected to all processors.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Features: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Simple to program because all processors share a single global memory.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Limited scalability because memory access becomes a bottleneck as the number of processors increases.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 Systems: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SMP (Symmetric Multiprocessing):</a:t>
            </a:r>
            <a:endParaRPr b="1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Early multi-core CPUs (e.g., SGI Power Challenge).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Single-socket systems with multiple cores (e.g., Intel Core or AMD Ryzen CPUs).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COMA (Cache-Only Memory Access)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Definition: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 a </a:t>
            </a:r>
            <a:r>
              <a:rPr b="1" lang="en">
                <a:solidFill>
                  <a:schemeClr val="dk1"/>
                </a:solidFill>
              </a:rPr>
              <a:t>COMA system</a:t>
            </a:r>
            <a:r>
              <a:rPr lang="en">
                <a:solidFill>
                  <a:schemeClr val="dk1"/>
                </a:solidFill>
              </a:rPr>
              <a:t>, there is no central or local memory. Instead, all memory is treated as a </a:t>
            </a:r>
            <a:r>
              <a:rPr b="1" lang="en">
                <a:solidFill>
                  <a:schemeClr val="dk1"/>
                </a:solidFill>
              </a:rPr>
              <a:t>cache</a:t>
            </a:r>
            <a:r>
              <a:rPr lang="en">
                <a:solidFill>
                  <a:schemeClr val="dk1"/>
                </a:solidFill>
              </a:rPr>
              <a:t>, and data moves dynamically to where it is needed.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Features: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Highly dynamic memory allocation, making it suitable for data-intensive tasks.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Rarely used today due to complexity and cost.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 Systems: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Kendall Square Research (KSR) machines.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291ec14ff4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291ec14ff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291ec14ff4_0_1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3291ec14ff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291ec14ff4_0_1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291ec14ff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291ec14ff4_0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3291ec14ff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291ec14ff4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291ec14ff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2e743b3804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g32e743b38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2e743b3804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2e743b380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2e743b3804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2e743b38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E0E0E"/>
                </a:solidFill>
              </a:rPr>
              <a:t>Address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b="1" lang="en" sz="1350">
                <a:solidFill>
                  <a:srgbClr val="0E0E0E"/>
                </a:solidFill>
              </a:rPr>
              <a:t>Binary Representation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b="1" lang="en" sz="1350">
                <a:solidFill>
                  <a:srgbClr val="0E0E0E"/>
                </a:solidFill>
              </a:rPr>
              <a:t>Decimal Value</a:t>
            </a:r>
            <a:endParaRPr b="1" sz="13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E0E0E"/>
                </a:solidFill>
              </a:rPr>
              <a:t>0xF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lang="en" sz="1350">
                <a:solidFill>
                  <a:srgbClr val="0E0E0E"/>
                </a:solidFill>
              </a:rPr>
              <a:t>0000 1111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lang="en" sz="1350">
                <a:solidFill>
                  <a:srgbClr val="0E0E0E"/>
                </a:solidFill>
              </a:rPr>
              <a:t>15</a:t>
            </a:r>
            <a:endParaRPr sz="13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E0E0E"/>
                </a:solidFill>
              </a:rPr>
              <a:t>0x1F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lang="en" sz="1350">
                <a:solidFill>
                  <a:srgbClr val="0E0E0E"/>
                </a:solidFill>
              </a:rPr>
              <a:t>0001 1111</a:t>
            </a:r>
            <a:r>
              <a:rPr lang="en" sz="900">
                <a:solidFill>
                  <a:schemeClr val="dk1"/>
                </a:solidFill>
              </a:rPr>
              <a:t>	</a:t>
            </a:r>
            <a:r>
              <a:rPr lang="en" sz="1350">
                <a:solidFill>
                  <a:srgbClr val="0E0E0E"/>
                </a:solidFill>
              </a:rPr>
              <a:t>31</a:t>
            </a:r>
            <a:endParaRPr sz="13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af5967e633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af5967e63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af5967e633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af5967e63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af5967e633_0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af5967e63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af5967e633_0_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af5967e63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af5967e633_0_1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af5967e63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af5967e633_0_1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af5967e63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af5967e633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af5967e63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2e743b3804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2e743b38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af5967e633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af5967e63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af5967e633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af5967e63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af5967e633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af5967e63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2af5967e633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af5967e63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af5967e633_0_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af5967e63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af5967e633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af5967e63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29a4e9efc8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29a4e9efc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29a4e9efc8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29a4e9ef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329a4e9efc8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329a4e9efc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29a4e9efc8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29a4e9ef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29a4e9efc8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29a4e9efc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29a4e9efc8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29a4e9ef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29a4e9efc8_0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29a4e9efc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29a4e9efc8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329a4e9ef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29a4e9efc8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29a4e9efc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400"/>
              <a:buNone/>
              <a:defRPr sz="4400">
                <a:solidFill>
                  <a:srgbClr val="1C458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 algn="ctr">
              <a:spcBef>
                <a:spcPts val="600"/>
              </a:spcBef>
              <a:spcAft>
                <a:spcPts val="0"/>
              </a:spcAft>
              <a:buSzPts val="2200"/>
              <a:buChar char="▷"/>
              <a:defRPr i="1"/>
            </a:lvl1pPr>
            <a:lvl2pPr indent="-368300" lvl="1" marL="9144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2pPr>
            <a:lvl3pPr indent="-368300" lvl="2" marL="1371600" rtl="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3pPr>
            <a:lvl4pPr indent="-368300" lvl="3" marL="1828800" rtl="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i="1"/>
            </a:lvl4pPr>
            <a:lvl5pPr indent="-368300" lvl="4" marL="22860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5pPr>
            <a:lvl6pPr indent="-368300" lvl="5" marL="2743200" rtl="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6pPr>
            <a:lvl7pPr indent="-368300" lvl="6" marL="3200400" rtl="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i="1"/>
            </a:lvl7pPr>
            <a:lvl8pPr indent="-368300" lvl="7" marL="36576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accent6"/>
                </a:solidFill>
              </a:rPr>
              <a:t>“</a:t>
            </a:r>
            <a:endParaRPr b="1" sz="9600">
              <a:solidFill>
                <a:schemeClr val="accent6"/>
              </a:solidFill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165850" y="718875"/>
            <a:ext cx="3864600" cy="4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219449" y="718950"/>
            <a:ext cx="3554400" cy="4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114875" y="576150"/>
            <a:ext cx="2726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2978999" y="608825"/>
            <a:ext cx="27264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7"/>
          <p:cNvSpPr txBox="1"/>
          <p:nvPr>
            <p:ph idx="3" type="body"/>
          </p:nvPr>
        </p:nvSpPr>
        <p:spPr>
          <a:xfrm>
            <a:off x="5909548" y="708902"/>
            <a:ext cx="30252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rgbClr val="0B539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99247" y="1396081"/>
            <a:ext cx="77454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688490" y="427617"/>
            <a:ext cx="77562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0950" y="576150"/>
            <a:ext cx="8974500" cy="4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Lato"/>
              <a:buChar char="▷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404375" y="75150"/>
            <a:ext cx="671149" cy="501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8.jpg"/><Relationship Id="rId6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hyperlink" Target="https://www.hpe.com/emea_europe/en/compute/hpc/lawrence-livermore-national-laboratory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362500" y="185150"/>
            <a:ext cx="6736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Parallel Computer Architecture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DBA253"/>
                </a:solidFill>
              </a:rPr>
              <a:t>Lecture 2: </a:t>
            </a:r>
            <a:endParaRPr sz="2600">
              <a:solidFill>
                <a:srgbClr val="DBA253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DBA253"/>
              </a:buClr>
              <a:buSzPts val="2600"/>
              <a:buChar char="-"/>
            </a:pPr>
            <a:r>
              <a:rPr lang="en" sz="2600">
                <a:solidFill>
                  <a:srgbClr val="DBA253"/>
                </a:solidFill>
              </a:rPr>
              <a:t> Flynn’s Taxonomy</a:t>
            </a:r>
            <a:endParaRPr sz="2600">
              <a:solidFill>
                <a:srgbClr val="DBA253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DBA253"/>
              </a:buClr>
              <a:buSzPts val="2600"/>
              <a:buChar char="-"/>
            </a:pPr>
            <a:r>
              <a:rPr lang="en" sz="2600">
                <a:solidFill>
                  <a:srgbClr val="DBA253"/>
                </a:solidFill>
              </a:rPr>
              <a:t>Intuition for Parallelism</a:t>
            </a:r>
            <a:endParaRPr sz="2600">
              <a:solidFill>
                <a:srgbClr val="DBA2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92" name="Google Shape;92;p13"/>
          <p:cNvSpPr txBox="1"/>
          <p:nvPr/>
        </p:nvSpPr>
        <p:spPr>
          <a:xfrm>
            <a:off x="701725" y="2748975"/>
            <a:ext cx="7610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latin typeface="Lato"/>
                <a:ea typeface="Lato"/>
                <a:cs typeface="Lato"/>
                <a:sym typeface="Lato"/>
              </a:rPr>
              <a:t>Armin Mehrabian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Taxonomies and Definitions 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Outline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•	Definitions and Conceptual Classifications</a:t>
            </a:r>
            <a:endParaRPr/>
          </a:p>
          <a:p>
            <a:pPr indent="-3429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/>
              <a:t>Parallel Processing, MPP’s, and Related Terms</a:t>
            </a:r>
            <a:endParaRPr/>
          </a:p>
          <a:p>
            <a:pPr indent="-3429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/>
              <a:t>Flynn’s Classification of Computer Architectures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•	Operational Models for Parallel Computer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	Parallelism Intuition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 and Conceptual Classification 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Parallel Processing?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data processing approach that emphasizes exploring and exploiting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inherent parallelism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a problem.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Terms: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Massively Parallel Processors (MPPs):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Systems designed with many processors working concurrently.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Processors: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Architectures that maintain efficiency as more processors are added.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Heterogeneous Processing: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1990s: Workstations with processors from different vendors.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Now: Use of accelerators like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GPUs, FPGAs, TPUs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other specialized hardware (e.g., Intel Xeon Phi, until its discontinuation).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Computing: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Distributed systems across multiple administrative domains for large-scale computing.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Computing: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Virtualized resources on demand over the internet.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 and Conceptual Classification 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Massively Parallel Processors (MPPs)?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Processing Speed &amp; Memory: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the study of problems with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resolutions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datasets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Efficiency: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Offers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low-cost alternative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traditional vector machines.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Achieves high performance without relying on expensive processors or memory technologies.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Machines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Machines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specialized computing systems designed to handle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operations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efficiently. They were widely used in high-performance computing (HPC) during the 1970s and 1980s, especially for scientific and engineering applications. 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Characteristics of Vector Machines: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processing one data element at a time (like scalar processors), vector machines operate on entire vectors (arrays of data) simultaneously.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ideal for operations like matrix multiplications, simulations, and other computations that involve repetitive data patterns.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Design: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machines use specialized vector registers and pipelines optimized for handling long sequences of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include Cray-1 and the NEC SX series.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Performance for Specific Applications: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machines exceled in tasks with predictable data patterns, like weather modeling, fluid dynamics, and structural analysis.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and Complexity: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machines were extremely expensive to build and maintain.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hardware was less adaptable to general-purpose computing</a:t>
            </a:r>
            <a:endParaRPr/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vs. MPP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205200" y="519225"/>
            <a:ext cx="53127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Architectures in Supercomputers: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Processor-Based Systems: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for high-speed computation on vector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Cray X-MP, Y-MP, C90, T94.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Few, highly optimized processors; limited scalability.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Microprocessor-Based Systems (MPP):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using many off-the-shelf microprocessors.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IBM Blue Gene, Thinking Machines CM-5.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Highly scalable and cost-efficient.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Transition: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1980s–90s: Shift from vector processors to microprocessor-based architectures due to scalability and cost benefits.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Cray X-MP.jpg - Wikimedia Commons"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700" y="584000"/>
            <a:ext cx="1351599" cy="1574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ray YMP M90 Ziegler 3.jpg - Wikimedia Commons"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3350" y="635200"/>
            <a:ext cx="1132425" cy="1509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Blue Gene main side 4.JPG - Wikimedia Commons" id="130" name="Google Shape;13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0163" y="2327850"/>
            <a:ext cx="1314676" cy="197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onnection Machine CM-5 (FROSTBERG) at National Cryptologic ..." id="131" name="Google Shape;13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8200" y="2691473"/>
            <a:ext cx="1853210" cy="138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ctrTitle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Von Neumann Architectures </a:t>
            </a:r>
            <a:br>
              <a:rPr lang="en"/>
            </a:br>
            <a:r>
              <a:rPr lang="en"/>
              <a:t>&amp; </a:t>
            </a:r>
            <a:br>
              <a:rPr lang="en"/>
            </a:br>
            <a:r>
              <a:rPr lang="en"/>
              <a:t>Flynn’s Taxonomy</a:t>
            </a:r>
            <a:endParaRPr/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Von Neumann Architecture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Separation of Memory and Compute: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stores both instructions and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processor fetches instructions and data from memory to execute tasks.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Memory: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Shared storage for both program instructions and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Execution: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Operations are performed step-by-step in a cycle: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→ Decode → Execute.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by a Central Processor: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Manages all computation and memory operations.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Forms the foundation of most modern computers.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and flexible design, but limited by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Von Neumann Bottleneck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(slow memory access compared to processor speed).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John von Neumann.jpg - Wikimedia Commons"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125" y="168650"/>
            <a:ext cx="1721900" cy="196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Von Neumann Architecture</a:t>
            </a:r>
            <a:endParaRPr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634662" y="4763749"/>
            <a:ext cx="421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676400" y="1252291"/>
            <a:ext cx="2340000" cy="32562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011033" y="1415101"/>
            <a:ext cx="2749500" cy="2876400"/>
          </a:xfrm>
          <a:prstGeom prst="roundRect">
            <a:avLst>
              <a:gd fmla="val 16667" name="adj"/>
            </a:avLst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21"/>
          <p:cNvGrpSpPr/>
          <p:nvPr/>
        </p:nvGrpSpPr>
        <p:grpSpPr>
          <a:xfrm>
            <a:off x="2144347" y="1469356"/>
            <a:ext cx="1403970" cy="638202"/>
            <a:chOff x="1524000" y="2286000"/>
            <a:chExt cx="1828800" cy="896100"/>
          </a:xfrm>
        </p:grpSpPr>
        <p:sp>
          <p:nvSpPr>
            <p:cNvPr id="155" name="Google Shape;155;p21"/>
            <p:cNvSpPr/>
            <p:nvPr/>
          </p:nvSpPr>
          <p:spPr>
            <a:xfrm>
              <a:off x="1524000" y="2286000"/>
              <a:ext cx="1828800" cy="896100"/>
            </a:xfrm>
            <a:prstGeom prst="rect">
              <a:avLst/>
            </a:prstGeom>
            <a:solidFill>
              <a:srgbClr val="EBEBEB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1524000" y="2413000"/>
              <a:ext cx="1825800" cy="127000"/>
              <a:chOff x="1524000" y="2413000"/>
              <a:chExt cx="1825800" cy="127000"/>
            </a:xfrm>
          </p:grpSpPr>
          <p:cxnSp>
            <p:nvCxnSpPr>
              <p:cNvPr id="157" name="Google Shape;157;p21"/>
              <p:cNvCxnSpPr/>
              <p:nvPr/>
            </p:nvCxnSpPr>
            <p:spPr>
              <a:xfrm>
                <a:off x="1524000" y="2413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21"/>
              <p:cNvCxnSpPr/>
              <p:nvPr/>
            </p:nvCxnSpPr>
            <p:spPr>
              <a:xfrm>
                <a:off x="1524000" y="2540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9" name="Google Shape;159;p21"/>
            <p:cNvGrpSpPr/>
            <p:nvPr/>
          </p:nvGrpSpPr>
          <p:grpSpPr>
            <a:xfrm>
              <a:off x="1524000" y="2679700"/>
              <a:ext cx="1825800" cy="127000"/>
              <a:chOff x="1524000" y="2413000"/>
              <a:chExt cx="1825800" cy="127000"/>
            </a:xfrm>
          </p:grpSpPr>
          <p:cxnSp>
            <p:nvCxnSpPr>
              <p:cNvPr id="160" name="Google Shape;160;p21"/>
              <p:cNvCxnSpPr/>
              <p:nvPr/>
            </p:nvCxnSpPr>
            <p:spPr>
              <a:xfrm>
                <a:off x="1524000" y="2413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21"/>
              <p:cNvCxnSpPr/>
              <p:nvPr/>
            </p:nvCxnSpPr>
            <p:spPr>
              <a:xfrm>
                <a:off x="1524000" y="2540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2" name="Google Shape;162;p21"/>
            <p:cNvGrpSpPr/>
            <p:nvPr/>
          </p:nvGrpSpPr>
          <p:grpSpPr>
            <a:xfrm>
              <a:off x="1524000" y="2921000"/>
              <a:ext cx="1825800" cy="127000"/>
              <a:chOff x="1524000" y="2413000"/>
              <a:chExt cx="1825800" cy="127000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524000" y="2413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1524000" y="2540000"/>
                <a:ext cx="1825800" cy="0"/>
              </a:xfrm>
              <a:prstGeom prst="straightConnector1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5" name="Google Shape;165;p21"/>
          <p:cNvGrpSpPr/>
          <p:nvPr/>
        </p:nvGrpSpPr>
        <p:grpSpPr>
          <a:xfrm>
            <a:off x="2144347" y="2220084"/>
            <a:ext cx="1403970" cy="488427"/>
            <a:chOff x="1524000" y="3657600"/>
            <a:chExt cx="1828800" cy="685800"/>
          </a:xfrm>
        </p:grpSpPr>
        <p:sp>
          <p:nvSpPr>
            <p:cNvPr id="166" name="Google Shape;166;p21"/>
            <p:cNvSpPr/>
            <p:nvPr/>
          </p:nvSpPr>
          <p:spPr>
            <a:xfrm>
              <a:off x="2209800" y="3657600"/>
              <a:ext cx="1143000" cy="685800"/>
            </a:xfrm>
            <a:prstGeom prst="parallelogram">
              <a:avLst>
                <a:gd fmla="val 79167" name="adj"/>
              </a:avLst>
            </a:prstGeom>
            <a:solidFill>
              <a:srgbClr val="EBEBEB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 flipH="1">
              <a:off x="1524000" y="3657600"/>
              <a:ext cx="1143000" cy="685800"/>
            </a:xfrm>
            <a:prstGeom prst="parallelogram">
              <a:avLst>
                <a:gd fmla="val 79167" name="adj"/>
              </a:avLst>
            </a:prstGeom>
            <a:solidFill>
              <a:srgbClr val="EBEBEB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 flipH="1">
              <a:off x="2146300" y="4064000"/>
              <a:ext cx="609600" cy="268200"/>
            </a:xfrm>
            <a:prstGeom prst="parallelogram">
              <a:avLst>
                <a:gd fmla="val 25000" name="adj"/>
              </a:avLst>
            </a:prstGeom>
            <a:solidFill>
              <a:srgbClr val="EBEB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1"/>
          <p:cNvSpPr/>
          <p:nvPr/>
        </p:nvSpPr>
        <p:spPr>
          <a:xfrm>
            <a:off x="2202920" y="3276256"/>
            <a:ext cx="1263900" cy="5178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CU</a:t>
            </a:r>
            <a:endParaRPr sz="700"/>
          </a:p>
        </p:txBody>
      </p:sp>
      <p:sp>
        <p:nvSpPr>
          <p:cNvPr id="170" name="Google Shape;170;p21"/>
          <p:cNvSpPr/>
          <p:nvPr/>
        </p:nvSpPr>
        <p:spPr>
          <a:xfrm>
            <a:off x="2202921" y="3924193"/>
            <a:ext cx="1249500" cy="1953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Register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2027414" y="2871350"/>
            <a:ext cx="1579500" cy="2715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µ-Instruction</a:t>
            </a: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Register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2085916" y="1252291"/>
            <a:ext cx="1228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Registers</a:t>
            </a:r>
            <a:endParaRPr sz="1100"/>
          </a:p>
        </p:txBody>
      </p:sp>
      <p:sp>
        <p:nvSpPr>
          <p:cNvPr id="173" name="Google Shape;173;p21"/>
          <p:cNvSpPr txBox="1"/>
          <p:nvPr/>
        </p:nvSpPr>
        <p:spPr>
          <a:xfrm>
            <a:off x="2641693" y="2413150"/>
            <a:ext cx="48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2261423" y="950625"/>
            <a:ext cx="120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700"/>
          </a:p>
        </p:txBody>
      </p:sp>
      <p:sp>
        <p:nvSpPr>
          <p:cNvPr id="175" name="Google Shape;175;p21"/>
          <p:cNvSpPr txBox="1"/>
          <p:nvPr/>
        </p:nvSpPr>
        <p:spPr>
          <a:xfrm>
            <a:off x="5888568" y="1104390"/>
            <a:ext cx="99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600"/>
          </a:p>
        </p:txBody>
      </p:sp>
      <p:grpSp>
        <p:nvGrpSpPr>
          <p:cNvPr id="176" name="Google Shape;176;p21"/>
          <p:cNvGrpSpPr/>
          <p:nvPr/>
        </p:nvGrpSpPr>
        <p:grpSpPr>
          <a:xfrm>
            <a:off x="5478761" y="1898452"/>
            <a:ext cx="643525" cy="1904494"/>
            <a:chOff x="5333949" y="2286000"/>
            <a:chExt cx="838251" cy="2674100"/>
          </a:xfrm>
        </p:grpSpPr>
        <p:grpSp>
          <p:nvGrpSpPr>
            <p:cNvPr id="177" name="Google Shape;177;p21"/>
            <p:cNvGrpSpPr/>
            <p:nvPr/>
          </p:nvGrpSpPr>
          <p:grpSpPr>
            <a:xfrm>
              <a:off x="5333949" y="2286000"/>
              <a:ext cx="838139" cy="896100"/>
              <a:chOff x="1524000" y="2286000"/>
              <a:chExt cx="1828800" cy="896100"/>
            </a:xfrm>
          </p:grpSpPr>
          <p:sp>
            <p:nvSpPr>
              <p:cNvPr id="178" name="Google Shape;178;p21"/>
              <p:cNvSpPr/>
              <p:nvPr/>
            </p:nvSpPr>
            <p:spPr>
              <a:xfrm>
                <a:off x="1524000" y="2286000"/>
                <a:ext cx="1828800" cy="896100"/>
              </a:xfrm>
              <a:prstGeom prst="rect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" name="Google Shape;179;p21"/>
              <p:cNvGrpSpPr/>
              <p:nvPr/>
            </p:nvGrpSpPr>
            <p:grpSpPr>
              <a:xfrm>
                <a:off x="1524000" y="2413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80" name="Google Shape;180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1" name="Google Shape;181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82" name="Google Shape;182;p21"/>
              <p:cNvGrpSpPr/>
              <p:nvPr/>
            </p:nvGrpSpPr>
            <p:grpSpPr>
              <a:xfrm>
                <a:off x="1524000" y="26797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83" name="Google Shape;183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4" name="Google Shape;184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85" name="Google Shape;185;p21"/>
              <p:cNvGrpSpPr/>
              <p:nvPr/>
            </p:nvGrpSpPr>
            <p:grpSpPr>
              <a:xfrm>
                <a:off x="1524000" y="2921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86" name="Google Shape;186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7" name="Google Shape;187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88" name="Google Shape;188;p21"/>
            <p:cNvGrpSpPr/>
            <p:nvPr/>
          </p:nvGrpSpPr>
          <p:grpSpPr>
            <a:xfrm>
              <a:off x="5333949" y="3175000"/>
              <a:ext cx="838139" cy="896100"/>
              <a:chOff x="1524000" y="2286000"/>
              <a:chExt cx="1828800" cy="896100"/>
            </a:xfrm>
          </p:grpSpPr>
          <p:sp>
            <p:nvSpPr>
              <p:cNvPr id="189" name="Google Shape;189;p21"/>
              <p:cNvSpPr/>
              <p:nvPr/>
            </p:nvSpPr>
            <p:spPr>
              <a:xfrm>
                <a:off x="1524000" y="2286000"/>
                <a:ext cx="1828800" cy="896100"/>
              </a:xfrm>
              <a:prstGeom prst="rect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0" name="Google Shape;190;p21"/>
              <p:cNvGrpSpPr/>
              <p:nvPr/>
            </p:nvGrpSpPr>
            <p:grpSpPr>
              <a:xfrm>
                <a:off x="1524000" y="2413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91" name="Google Shape;191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3" name="Google Shape;193;p21"/>
              <p:cNvGrpSpPr/>
              <p:nvPr/>
            </p:nvGrpSpPr>
            <p:grpSpPr>
              <a:xfrm>
                <a:off x="1524000" y="26797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94" name="Google Shape;194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5" name="Google Shape;195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6" name="Google Shape;196;p21"/>
              <p:cNvGrpSpPr/>
              <p:nvPr/>
            </p:nvGrpSpPr>
            <p:grpSpPr>
              <a:xfrm>
                <a:off x="1524000" y="2921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197" name="Google Shape;197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8" name="Google Shape;198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99" name="Google Shape;199;p21"/>
            <p:cNvSpPr/>
            <p:nvPr/>
          </p:nvSpPr>
          <p:spPr>
            <a:xfrm>
              <a:off x="5334000" y="4064000"/>
              <a:ext cx="838200" cy="896100"/>
            </a:xfrm>
            <a:prstGeom prst="rect">
              <a:avLst/>
            </a:prstGeom>
            <a:solidFill>
              <a:srgbClr val="EBEBEB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>
            <a:off x="6707310" y="1903517"/>
            <a:ext cx="643525" cy="1904494"/>
            <a:chOff x="5333949" y="2286000"/>
            <a:chExt cx="838251" cy="2674100"/>
          </a:xfrm>
        </p:grpSpPr>
        <p:grpSp>
          <p:nvGrpSpPr>
            <p:cNvPr id="201" name="Google Shape;201;p21"/>
            <p:cNvGrpSpPr/>
            <p:nvPr/>
          </p:nvGrpSpPr>
          <p:grpSpPr>
            <a:xfrm>
              <a:off x="5333949" y="2286000"/>
              <a:ext cx="838139" cy="896100"/>
              <a:chOff x="1524000" y="2286000"/>
              <a:chExt cx="1828800" cy="896100"/>
            </a:xfrm>
          </p:grpSpPr>
          <p:sp>
            <p:nvSpPr>
              <p:cNvPr id="202" name="Google Shape;202;p21"/>
              <p:cNvSpPr/>
              <p:nvPr/>
            </p:nvSpPr>
            <p:spPr>
              <a:xfrm>
                <a:off x="1524000" y="2286000"/>
                <a:ext cx="1828800" cy="896100"/>
              </a:xfrm>
              <a:prstGeom prst="rect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3" name="Google Shape;203;p21"/>
              <p:cNvGrpSpPr/>
              <p:nvPr/>
            </p:nvGrpSpPr>
            <p:grpSpPr>
              <a:xfrm>
                <a:off x="1524000" y="2413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04" name="Google Shape;204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5" name="Google Shape;205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06" name="Google Shape;206;p21"/>
              <p:cNvGrpSpPr/>
              <p:nvPr/>
            </p:nvGrpSpPr>
            <p:grpSpPr>
              <a:xfrm>
                <a:off x="1524000" y="26797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07" name="Google Shape;207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8" name="Google Shape;208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09" name="Google Shape;209;p21"/>
              <p:cNvGrpSpPr/>
              <p:nvPr/>
            </p:nvGrpSpPr>
            <p:grpSpPr>
              <a:xfrm>
                <a:off x="1524000" y="2921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10" name="Google Shape;210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12" name="Google Shape;212;p21"/>
            <p:cNvGrpSpPr/>
            <p:nvPr/>
          </p:nvGrpSpPr>
          <p:grpSpPr>
            <a:xfrm>
              <a:off x="5333949" y="3175000"/>
              <a:ext cx="838139" cy="896100"/>
              <a:chOff x="1524000" y="2286000"/>
              <a:chExt cx="1828800" cy="896100"/>
            </a:xfrm>
          </p:grpSpPr>
          <p:sp>
            <p:nvSpPr>
              <p:cNvPr id="213" name="Google Shape;213;p21"/>
              <p:cNvSpPr/>
              <p:nvPr/>
            </p:nvSpPr>
            <p:spPr>
              <a:xfrm>
                <a:off x="1524000" y="2286000"/>
                <a:ext cx="1828800" cy="896100"/>
              </a:xfrm>
              <a:prstGeom prst="rect">
                <a:avLst/>
              </a:prstGeom>
              <a:solidFill>
                <a:srgbClr val="EBEBEB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4" name="Google Shape;214;p21"/>
              <p:cNvGrpSpPr/>
              <p:nvPr/>
            </p:nvGrpSpPr>
            <p:grpSpPr>
              <a:xfrm>
                <a:off x="1524000" y="2413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15" name="Google Shape;215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6" name="Google Shape;216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17" name="Google Shape;217;p21"/>
              <p:cNvGrpSpPr/>
              <p:nvPr/>
            </p:nvGrpSpPr>
            <p:grpSpPr>
              <a:xfrm>
                <a:off x="1524000" y="26797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18" name="Google Shape;218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9" name="Google Shape;219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0" name="Google Shape;220;p21"/>
              <p:cNvGrpSpPr/>
              <p:nvPr/>
            </p:nvGrpSpPr>
            <p:grpSpPr>
              <a:xfrm>
                <a:off x="1524000" y="2921000"/>
                <a:ext cx="1825800" cy="127000"/>
                <a:chOff x="1524000" y="2413000"/>
                <a:chExt cx="1825800" cy="127000"/>
              </a:xfrm>
            </p:grpSpPr>
            <p:cxnSp>
              <p:nvCxnSpPr>
                <p:cNvPr id="221" name="Google Shape;221;p21"/>
                <p:cNvCxnSpPr/>
                <p:nvPr/>
              </p:nvCxnSpPr>
              <p:spPr>
                <a:xfrm>
                  <a:off x="1524000" y="2413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2" name="Google Shape;222;p21"/>
                <p:cNvCxnSpPr/>
                <p:nvPr/>
              </p:nvCxnSpPr>
              <p:spPr>
                <a:xfrm>
                  <a:off x="1524000" y="2540000"/>
                  <a:ext cx="1825800" cy="0"/>
                </a:xfrm>
                <a:prstGeom prst="straightConnector1">
                  <a:avLst/>
                </a:prstGeom>
                <a:solidFill>
                  <a:srgbClr val="EBEBEB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223" name="Google Shape;223;p21"/>
            <p:cNvSpPr/>
            <p:nvPr/>
          </p:nvSpPr>
          <p:spPr>
            <a:xfrm>
              <a:off x="5334000" y="4064000"/>
              <a:ext cx="838200" cy="896100"/>
            </a:xfrm>
            <a:prstGeom prst="rect">
              <a:avLst/>
            </a:prstGeom>
            <a:solidFill>
              <a:srgbClr val="EBEBEB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21"/>
          <p:cNvSpPr txBox="1"/>
          <p:nvPr/>
        </p:nvSpPr>
        <p:spPr>
          <a:xfrm>
            <a:off x="6707601" y="1522907"/>
            <a:ext cx="52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700"/>
          </a:p>
        </p:txBody>
      </p:sp>
      <p:sp>
        <p:nvSpPr>
          <p:cNvPr id="225" name="Google Shape;225;p21"/>
          <p:cNvSpPr txBox="1"/>
          <p:nvPr/>
        </p:nvSpPr>
        <p:spPr>
          <a:xfrm>
            <a:off x="5420550" y="1540997"/>
            <a:ext cx="87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700"/>
          </a:p>
        </p:txBody>
      </p:sp>
      <p:sp>
        <p:nvSpPr>
          <p:cNvPr id="226" name="Google Shape;226;p21"/>
          <p:cNvSpPr/>
          <p:nvPr/>
        </p:nvSpPr>
        <p:spPr>
          <a:xfrm>
            <a:off x="4035994" y="3251241"/>
            <a:ext cx="966300" cy="156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016494" y="2003028"/>
            <a:ext cx="992100" cy="15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074996" y="2817080"/>
            <a:ext cx="94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/ </a:t>
            </a:r>
            <a:endParaRPr sz="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sz="900"/>
          </a:p>
        </p:txBody>
      </p:sp>
      <p:sp>
        <p:nvSpPr>
          <p:cNvPr id="229" name="Google Shape;229;p21"/>
          <p:cNvSpPr txBox="1"/>
          <p:nvPr/>
        </p:nvSpPr>
        <p:spPr>
          <a:xfrm>
            <a:off x="4125609" y="1785947"/>
            <a:ext cx="719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2300">
                <a:solidFill>
                  <a:srgbClr val="595959"/>
                </a:solidFill>
              </a:rPr>
              <a:t>µ-Instructions</a:t>
            </a:r>
            <a:endParaRPr sz="4100">
              <a:solidFill>
                <a:srgbClr val="595959"/>
              </a:solidFill>
            </a:endParaRPr>
          </a:p>
        </p:txBody>
      </p:sp>
      <p:sp>
        <p:nvSpPr>
          <p:cNvPr id="235" name="Google Shape;235;p2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Micro-instructions are low-level control instructions used in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microprogrammed control units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within a CPU. These instructions break down complex machine-level instructions into smaller steps that directly control the hardware.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of Micro-Instructions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a simple example of executing 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instruction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the machine level (e.g., adding the contents of two registers). The micro-instructions to implement this could look something like this: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Phase: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MAR ← PC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(Move the value of the Program Counter into the Memory Address Register to locate the next instruction).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MDR ← MEM[MAR]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(Load the instruction from memory into the Memory Data Register).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IR ← MDR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(Move the instruction into the Instruction Register).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PC ← PC + 1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(Increment the Program Counter to the next instruction).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Decode Phase: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Control Unit interprets the opcode in IR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 the operation (e.g., ADD) and operands (e.g., contents of registers R1 and R2).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Phase: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 ← R1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(Move the contents of Register R1 into a temporary register).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ALU_OUT ← TEMP + R2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(Perform the addition in the Arithmetic Logic Unit).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R3 ← ALU_OUT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(Store the result into the destination register, R3).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Back Phase (if needed):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flags in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Register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carry, overflow, zero) based on the result.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IAS Machine and Von Neumann Architecture</a:t>
            </a:r>
            <a:endParaRPr/>
          </a:p>
        </p:txBody>
      </p:sp>
      <p:sp>
        <p:nvSpPr>
          <p:cNvPr id="242" name="Google Shape;242;p23"/>
          <p:cNvSpPr txBox="1"/>
          <p:nvPr>
            <p:ph idx="1" type="body"/>
          </p:nvPr>
        </p:nvSpPr>
        <p:spPr>
          <a:xfrm>
            <a:off x="205200" y="519225"/>
            <a:ext cx="6144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by: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John von Neumann at the Institute for Advanced Study (IAS), Princeton.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Significance: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electronic computer to implement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program concept.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Program Concept: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Programs and data are stored together in the same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Von Neumann Architecture: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memory shared for both instructions and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Cycle: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→ Decode → Execute → Write Back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(basic operational steps of the CPU).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AVIDAC -- First Argonne Computer (1953).jpg - Wikimedia Commons" id="244" name="Google Shape;2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004" y="1046575"/>
            <a:ext cx="2406300" cy="305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Flynn’s Classification (1966)</a:t>
            </a:r>
            <a:endParaRPr/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simple and memorable way to classify computer architectures.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Multiplicity of instruction streams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(SI/MI)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data streams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(SD/MD).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Single Instruction, Single Data (SISD)</a:t>
            </a:r>
            <a:endParaRPr/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205200" y="519225"/>
            <a:ext cx="52335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single control unit fetches and executes one instruction at a time, operating on a single data item.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sequential computing.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computers like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 8086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ENIAC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Single-core CPUs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running a single thread (e.g., a single-core processor executing simple tasks).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 with no inherent parallelism, such as simple control programs.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Intel C8086.jpg - Wikimedia Commons" id="259" name="Google Shape;2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075" y="2951468"/>
            <a:ext cx="2616101" cy="17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Single Instruction, Single Data (SISD)</a:t>
            </a:r>
            <a:endParaRPr/>
          </a:p>
        </p:txBody>
      </p:sp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2368550" y="1698900"/>
            <a:ext cx="978000" cy="597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568950" y="1698900"/>
            <a:ext cx="978000" cy="597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3892550" y="1698900"/>
            <a:ext cx="978000" cy="597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26"/>
          <p:cNvCxnSpPr/>
          <p:nvPr/>
        </p:nvCxnSpPr>
        <p:spPr>
          <a:xfrm>
            <a:off x="1682750" y="1997350"/>
            <a:ext cx="67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0" name="Google Shape;270;p26"/>
          <p:cNvCxnSpPr/>
          <p:nvPr/>
        </p:nvCxnSpPr>
        <p:spPr>
          <a:xfrm>
            <a:off x="3359150" y="1997350"/>
            <a:ext cx="520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6"/>
          <p:cNvCxnSpPr/>
          <p:nvPr/>
        </p:nvCxnSpPr>
        <p:spPr>
          <a:xfrm>
            <a:off x="4883150" y="1997350"/>
            <a:ext cx="67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26"/>
          <p:cNvCxnSpPr/>
          <p:nvPr/>
        </p:nvCxnSpPr>
        <p:spPr>
          <a:xfrm>
            <a:off x="6559550" y="1997350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6"/>
          <p:cNvCxnSpPr/>
          <p:nvPr/>
        </p:nvCxnSpPr>
        <p:spPr>
          <a:xfrm>
            <a:off x="7010400" y="2003700"/>
            <a:ext cx="0" cy="1054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6"/>
          <p:cNvCxnSpPr/>
          <p:nvPr/>
        </p:nvCxnSpPr>
        <p:spPr>
          <a:xfrm rot="10800000">
            <a:off x="2889350" y="3064150"/>
            <a:ext cx="4127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26"/>
          <p:cNvCxnSpPr/>
          <p:nvPr/>
        </p:nvCxnSpPr>
        <p:spPr>
          <a:xfrm rot="10800000">
            <a:off x="2895600" y="2295900"/>
            <a:ext cx="0" cy="77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6"/>
          <p:cNvSpPr/>
          <p:nvPr/>
        </p:nvSpPr>
        <p:spPr>
          <a:xfrm>
            <a:off x="2500313" y="1754463"/>
            <a:ext cx="622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4000500" y="1628579"/>
            <a:ext cx="11574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(ALU)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853113" y="1754463"/>
            <a:ext cx="435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181600" y="2613300"/>
            <a:ext cx="651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3338513" y="1297263"/>
            <a:ext cx="651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5008563" y="1473475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1509713" y="1373463"/>
            <a:ext cx="5859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I/O</a:t>
            </a:r>
            <a:endParaRPr sz="1300"/>
          </a:p>
        </p:txBody>
      </p:sp>
      <p:sp>
        <p:nvSpPr>
          <p:cNvPr id="283" name="Google Shape;283;p26"/>
          <p:cNvSpPr/>
          <p:nvPr/>
        </p:nvSpPr>
        <p:spPr>
          <a:xfrm>
            <a:off x="304800" y="3222900"/>
            <a:ext cx="85344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CU= Control Unit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PE= Processing Element (same as ALU)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 Memory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IS= Instruction Stream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DS= Data Stream,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µIS= MicroInstructions Stream</a:t>
            </a:r>
            <a:endParaRPr sz="1600"/>
          </a:p>
        </p:txBody>
      </p:sp>
      <p:sp>
        <p:nvSpPr>
          <p:cNvPr id="284" name="Google Shape;284;p26"/>
          <p:cNvSpPr/>
          <p:nvPr/>
        </p:nvSpPr>
        <p:spPr>
          <a:xfrm>
            <a:off x="2146300" y="1216300"/>
            <a:ext cx="2895600" cy="1524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2819400" y="784500"/>
            <a:ext cx="15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Single Instruction, Multiple Data (SIMD)</a:t>
            </a:r>
            <a:endParaRPr/>
          </a:p>
        </p:txBody>
      </p:sp>
      <p:sp>
        <p:nvSpPr>
          <p:cNvPr id="291" name="Google Shape;291;p27"/>
          <p:cNvSpPr txBox="1"/>
          <p:nvPr>
            <p:ph idx="1" type="body"/>
          </p:nvPr>
        </p:nvSpPr>
        <p:spPr>
          <a:xfrm>
            <a:off x="205200" y="519225"/>
            <a:ext cx="6456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single instruction operates on multiple data elements simultaneously. Ideal for data-level parallelism.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 vector processors and GPUs.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Cray-1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early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processors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GPUs (e.g., CUDA cores processing image pixels simultaneously).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AMD Radeon GPUs.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 Extensions in CPUs: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Intel's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AVX (Advanced Vector Extensions)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ARM's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 like matrix multiplication, image processing, machine learning, or any task with large-scale repetitive operations.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ile:Nvidia Tesla A100.png - Wikimedia Commons" id="293" name="Google Shape;2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675" y="3039700"/>
            <a:ext cx="1767150" cy="99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Single Instruction, Multiple Data (SIMD)</a:t>
            </a:r>
            <a:endParaRPr/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1896170" y="1107038"/>
            <a:ext cx="5807100" cy="2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4524642" y="1561701"/>
            <a:ext cx="844500" cy="44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6232675" y="1561701"/>
            <a:ext cx="844500" cy="44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4633767" y="1648254"/>
            <a:ext cx="527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/>
          </a:p>
        </p:txBody>
      </p:sp>
      <p:sp>
        <p:nvSpPr>
          <p:cNvPr id="304" name="Google Shape;304;p28"/>
          <p:cNvSpPr/>
          <p:nvPr/>
        </p:nvSpPr>
        <p:spPr>
          <a:xfrm>
            <a:off x="6388059" y="1648254"/>
            <a:ext cx="540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</a:t>
            </a:r>
            <a:r>
              <a:rPr lang="en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/>
          </a:p>
        </p:txBody>
      </p:sp>
      <p:cxnSp>
        <p:nvCxnSpPr>
          <p:cNvPr id="305" name="Google Shape;305;p28"/>
          <p:cNvCxnSpPr/>
          <p:nvPr/>
        </p:nvCxnSpPr>
        <p:spPr>
          <a:xfrm>
            <a:off x="4012232" y="1807803"/>
            <a:ext cx="502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8"/>
          <p:cNvCxnSpPr/>
          <p:nvPr/>
        </p:nvCxnSpPr>
        <p:spPr>
          <a:xfrm>
            <a:off x="5378658" y="1807803"/>
            <a:ext cx="844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28"/>
          <p:cNvSpPr/>
          <p:nvPr/>
        </p:nvSpPr>
        <p:spPr>
          <a:xfrm>
            <a:off x="4524642" y="2462684"/>
            <a:ext cx="844500" cy="44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6232675" y="2462684"/>
            <a:ext cx="844500" cy="44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4623092" y="2549238"/>
            <a:ext cx="553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500"/>
          </a:p>
        </p:txBody>
      </p:sp>
      <p:sp>
        <p:nvSpPr>
          <p:cNvPr id="310" name="Google Shape;310;p28"/>
          <p:cNvSpPr/>
          <p:nvPr/>
        </p:nvSpPr>
        <p:spPr>
          <a:xfrm>
            <a:off x="6388059" y="2549238"/>
            <a:ext cx="56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700"/>
          </a:p>
        </p:txBody>
      </p:sp>
      <p:cxnSp>
        <p:nvCxnSpPr>
          <p:cNvPr id="311" name="Google Shape;311;p28"/>
          <p:cNvCxnSpPr/>
          <p:nvPr/>
        </p:nvCxnSpPr>
        <p:spPr>
          <a:xfrm>
            <a:off x="4012232" y="2708786"/>
            <a:ext cx="502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8"/>
          <p:cNvCxnSpPr/>
          <p:nvPr/>
        </p:nvCxnSpPr>
        <p:spPr>
          <a:xfrm>
            <a:off x="5378658" y="2708786"/>
            <a:ext cx="844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" name="Google Shape;313;p28"/>
          <p:cNvSpPr/>
          <p:nvPr/>
        </p:nvSpPr>
        <p:spPr>
          <a:xfrm>
            <a:off x="2645806" y="2062247"/>
            <a:ext cx="901500" cy="542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28"/>
          <p:cNvCxnSpPr/>
          <p:nvPr/>
        </p:nvCxnSpPr>
        <p:spPr>
          <a:xfrm>
            <a:off x="1886681" y="2298964"/>
            <a:ext cx="749400" cy="9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8"/>
          <p:cNvCxnSpPr/>
          <p:nvPr/>
        </p:nvCxnSpPr>
        <p:spPr>
          <a:xfrm>
            <a:off x="3556757" y="2308349"/>
            <a:ext cx="446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8"/>
          <p:cNvCxnSpPr/>
          <p:nvPr/>
        </p:nvCxnSpPr>
        <p:spPr>
          <a:xfrm>
            <a:off x="4007488" y="1811974"/>
            <a:ext cx="0" cy="89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28"/>
          <p:cNvSpPr/>
          <p:nvPr/>
        </p:nvSpPr>
        <p:spPr>
          <a:xfrm>
            <a:off x="2953590" y="2148801"/>
            <a:ext cx="4650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400"/>
          </a:p>
        </p:txBody>
      </p:sp>
      <p:sp>
        <p:nvSpPr>
          <p:cNvPr id="318" name="Google Shape;318;p28"/>
          <p:cNvSpPr/>
          <p:nvPr/>
        </p:nvSpPr>
        <p:spPr>
          <a:xfrm>
            <a:off x="2066973" y="1960053"/>
            <a:ext cx="3501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400"/>
          </a:p>
        </p:txBody>
      </p:sp>
      <p:sp>
        <p:nvSpPr>
          <p:cNvPr id="319" name="Google Shape;319;p28"/>
          <p:cNvSpPr/>
          <p:nvPr/>
        </p:nvSpPr>
        <p:spPr>
          <a:xfrm>
            <a:off x="4167616" y="2148801"/>
            <a:ext cx="486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500"/>
          </a:p>
        </p:txBody>
      </p:sp>
      <p:sp>
        <p:nvSpPr>
          <p:cNvPr id="320" name="Google Shape;320;p28"/>
          <p:cNvSpPr/>
          <p:nvPr/>
        </p:nvSpPr>
        <p:spPr>
          <a:xfrm>
            <a:off x="5534042" y="1397981"/>
            <a:ext cx="4518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400"/>
          </a:p>
        </p:txBody>
      </p:sp>
      <p:sp>
        <p:nvSpPr>
          <p:cNvPr id="321" name="Google Shape;321;p28"/>
          <p:cNvSpPr/>
          <p:nvPr/>
        </p:nvSpPr>
        <p:spPr>
          <a:xfrm>
            <a:off x="5647911" y="2298964"/>
            <a:ext cx="4518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400"/>
          </a:p>
        </p:txBody>
      </p:sp>
      <p:sp>
        <p:nvSpPr>
          <p:cNvPr id="322" name="Google Shape;322;p28"/>
          <p:cNvSpPr/>
          <p:nvPr/>
        </p:nvSpPr>
        <p:spPr>
          <a:xfrm>
            <a:off x="5477108" y="1898527"/>
            <a:ext cx="214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381000" y="3347800"/>
            <a:ext cx="8534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CU= Control Unit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PE= Processing Element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 Memory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IS= Instruction Stream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DS= Data Stream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LM=Local Memory</a:t>
            </a:r>
            <a:endParaRPr sz="1600"/>
          </a:p>
        </p:txBody>
      </p:sp>
      <p:sp>
        <p:nvSpPr>
          <p:cNvPr id="324" name="Google Shape;324;p28"/>
          <p:cNvSpPr/>
          <p:nvPr/>
        </p:nvSpPr>
        <p:spPr>
          <a:xfrm>
            <a:off x="2579383" y="1028602"/>
            <a:ext cx="2894400" cy="200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3831940" y="956875"/>
            <a:ext cx="11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700"/>
          </a:p>
        </p:txBody>
      </p:sp>
      <p:cxnSp>
        <p:nvCxnSpPr>
          <p:cNvPr id="326" name="Google Shape;326;p28"/>
          <p:cNvCxnSpPr/>
          <p:nvPr/>
        </p:nvCxnSpPr>
        <p:spPr>
          <a:xfrm rot="10800000">
            <a:off x="2202427" y="2305468"/>
            <a:ext cx="2100" cy="203100"/>
          </a:xfrm>
          <a:prstGeom prst="straightConnector1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p28"/>
          <p:cNvSpPr txBox="1"/>
          <p:nvPr/>
        </p:nvSpPr>
        <p:spPr>
          <a:xfrm>
            <a:off x="1520050" y="2608675"/>
            <a:ext cx="117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CUMem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Single Instruction, Multiple Data (SIMD)</a:t>
            </a:r>
            <a:endParaRPr/>
          </a:p>
        </p:txBody>
      </p:sp>
      <p:sp>
        <p:nvSpPr>
          <p:cNvPr id="333" name="Google Shape;333;p29"/>
          <p:cNvSpPr txBox="1"/>
          <p:nvPr>
            <p:ph idx="1" type="body"/>
          </p:nvPr>
        </p:nvSpPr>
        <p:spPr>
          <a:xfrm>
            <a:off x="205200" y="519225"/>
            <a:ext cx="6456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 – Array Processing Elements: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 systems consist of multiple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elements (PEs)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work in parallel.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PE is responsible for processing a portion of the data array simultaneously.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In a GPU, "cores" are the processing elements that operate on multiple pixels or data chunks in parallel.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Synchronization by the Same Processor: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PEs are synchronized by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control unit or processor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same instruction is broadcast to all PEs, and they execute it simultaneously on different data elements.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synchronization ensures uniformity and efficiency in SIMD operations.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Exploits Spatial or Data Parallelism: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 excels at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parallelism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the same operation is applied to different pieces of data simultaneously.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parallelism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means the data being processed is stored in a way that makes it easily accessible to the PEs (e.g., stored contiguously in memory).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 data structures: Arrays, matrices, and other contiguous data structures that facilitate parallel access.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700125" y="1745173"/>
            <a:ext cx="4206200" cy="18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Multiple Instructions, Single Data (MISD) </a:t>
            </a:r>
            <a:endParaRPr/>
          </a:p>
        </p:txBody>
      </p:sp>
      <p:sp>
        <p:nvSpPr>
          <p:cNvPr id="341" name="Google Shape;341;p3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instructions operate on the same data stream.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Rare in practice, mostly theoretical or used in specialized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Theoretical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Fault-tolerant systems where multiple processors execute the same operations redundantly to detect errors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Shuttle Flight Control Computers: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reliability by comparing outputs of redundant operations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systolic arrays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specialized pipelines for error detection and control (e.g., certain control systems in spacecraft or avionics).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 tolerance, niche control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processors execute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instructions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same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Outputs are compared to detect and mask errors (e.g.,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redundancy for reliability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Multiple Instructions, Single Data (MISD) </a:t>
            </a:r>
            <a:endParaRPr/>
          </a:p>
        </p:txBody>
      </p: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31"/>
          <p:cNvSpPr/>
          <p:nvPr/>
        </p:nvSpPr>
        <p:spPr>
          <a:xfrm>
            <a:off x="3716939" y="159822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3716939" y="263306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31"/>
          <p:cNvCxnSpPr/>
          <p:nvPr/>
        </p:nvCxnSpPr>
        <p:spPr>
          <a:xfrm>
            <a:off x="4055178" y="2115645"/>
            <a:ext cx="0" cy="506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31"/>
          <p:cNvSpPr/>
          <p:nvPr/>
        </p:nvSpPr>
        <p:spPr>
          <a:xfrm>
            <a:off x="3767102" y="1645386"/>
            <a:ext cx="561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600"/>
          </a:p>
        </p:txBody>
      </p:sp>
      <p:sp>
        <p:nvSpPr>
          <p:cNvPr id="353" name="Google Shape;353;p31"/>
          <p:cNvSpPr/>
          <p:nvPr/>
        </p:nvSpPr>
        <p:spPr>
          <a:xfrm>
            <a:off x="3835896" y="2744903"/>
            <a:ext cx="5304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000"/>
          </a:p>
        </p:txBody>
      </p:sp>
      <p:sp>
        <p:nvSpPr>
          <p:cNvPr id="354" name="Google Shape;354;p31"/>
          <p:cNvSpPr/>
          <p:nvPr/>
        </p:nvSpPr>
        <p:spPr>
          <a:xfrm>
            <a:off x="3992116" y="2162805"/>
            <a:ext cx="587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1600"/>
          </a:p>
        </p:txBody>
      </p:sp>
      <p:sp>
        <p:nvSpPr>
          <p:cNvPr id="355" name="Google Shape;355;p31"/>
          <p:cNvSpPr/>
          <p:nvPr/>
        </p:nvSpPr>
        <p:spPr>
          <a:xfrm>
            <a:off x="4611264" y="159822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4680059" y="263306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31"/>
          <p:cNvCxnSpPr/>
          <p:nvPr/>
        </p:nvCxnSpPr>
        <p:spPr>
          <a:xfrm>
            <a:off x="4949503" y="2115645"/>
            <a:ext cx="0" cy="506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31"/>
          <p:cNvSpPr/>
          <p:nvPr/>
        </p:nvSpPr>
        <p:spPr>
          <a:xfrm>
            <a:off x="4661427" y="1645386"/>
            <a:ext cx="561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600"/>
          </a:p>
        </p:txBody>
      </p:sp>
      <p:sp>
        <p:nvSpPr>
          <p:cNvPr id="359" name="Google Shape;359;p31"/>
          <p:cNvSpPr/>
          <p:nvPr/>
        </p:nvSpPr>
        <p:spPr>
          <a:xfrm>
            <a:off x="4730222" y="2744903"/>
            <a:ext cx="5304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000"/>
          </a:p>
        </p:txBody>
      </p:sp>
      <p:sp>
        <p:nvSpPr>
          <p:cNvPr id="360" name="Google Shape;360;p31"/>
          <p:cNvSpPr/>
          <p:nvPr/>
        </p:nvSpPr>
        <p:spPr>
          <a:xfrm>
            <a:off x="4886441" y="2162805"/>
            <a:ext cx="587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1600"/>
          </a:p>
        </p:txBody>
      </p:sp>
      <p:sp>
        <p:nvSpPr>
          <p:cNvPr id="361" name="Google Shape;361;p31"/>
          <p:cNvSpPr/>
          <p:nvPr/>
        </p:nvSpPr>
        <p:spPr>
          <a:xfrm>
            <a:off x="6399915" y="159822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6399915" y="2633065"/>
            <a:ext cx="676500" cy="5067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31"/>
          <p:cNvCxnSpPr/>
          <p:nvPr/>
        </p:nvCxnSpPr>
        <p:spPr>
          <a:xfrm>
            <a:off x="6669359" y="2115645"/>
            <a:ext cx="0" cy="506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1"/>
          <p:cNvSpPr/>
          <p:nvPr/>
        </p:nvSpPr>
        <p:spPr>
          <a:xfrm>
            <a:off x="6450078" y="1645386"/>
            <a:ext cx="561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600"/>
          </a:p>
        </p:txBody>
      </p:sp>
      <p:sp>
        <p:nvSpPr>
          <p:cNvPr id="365" name="Google Shape;365;p31"/>
          <p:cNvSpPr/>
          <p:nvPr/>
        </p:nvSpPr>
        <p:spPr>
          <a:xfrm>
            <a:off x="6518872" y="2744903"/>
            <a:ext cx="5304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000"/>
          </a:p>
        </p:txBody>
      </p:sp>
      <p:sp>
        <p:nvSpPr>
          <p:cNvPr id="366" name="Google Shape;366;p31"/>
          <p:cNvSpPr/>
          <p:nvPr/>
        </p:nvSpPr>
        <p:spPr>
          <a:xfrm>
            <a:off x="6629229" y="2173585"/>
            <a:ext cx="587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1600"/>
          </a:p>
        </p:txBody>
      </p:sp>
      <p:sp>
        <p:nvSpPr>
          <p:cNvPr id="367" name="Google Shape;367;p31"/>
          <p:cNvSpPr/>
          <p:nvPr/>
        </p:nvSpPr>
        <p:spPr>
          <a:xfrm>
            <a:off x="1790700" y="2115645"/>
            <a:ext cx="1295700" cy="1024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1"/>
          <p:cNvCxnSpPr/>
          <p:nvPr/>
        </p:nvCxnSpPr>
        <p:spPr>
          <a:xfrm rot="10800000">
            <a:off x="2885675" y="1134645"/>
            <a:ext cx="0" cy="981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1"/>
          <p:cNvCxnSpPr/>
          <p:nvPr/>
        </p:nvCxnSpPr>
        <p:spPr>
          <a:xfrm>
            <a:off x="2891408" y="1140093"/>
            <a:ext cx="10893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1"/>
          <p:cNvCxnSpPr/>
          <p:nvPr/>
        </p:nvCxnSpPr>
        <p:spPr>
          <a:xfrm>
            <a:off x="3986383" y="1145483"/>
            <a:ext cx="0" cy="441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1"/>
          <p:cNvCxnSpPr/>
          <p:nvPr/>
        </p:nvCxnSpPr>
        <p:spPr>
          <a:xfrm rot="10800000">
            <a:off x="2679292" y="1070145"/>
            <a:ext cx="0" cy="1045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1"/>
          <p:cNvCxnSpPr/>
          <p:nvPr/>
        </p:nvCxnSpPr>
        <p:spPr>
          <a:xfrm>
            <a:off x="2685025" y="1075416"/>
            <a:ext cx="21213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1"/>
          <p:cNvCxnSpPr/>
          <p:nvPr/>
        </p:nvCxnSpPr>
        <p:spPr>
          <a:xfrm>
            <a:off x="4811914" y="1080806"/>
            <a:ext cx="0" cy="506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1"/>
          <p:cNvCxnSpPr/>
          <p:nvPr/>
        </p:nvCxnSpPr>
        <p:spPr>
          <a:xfrm rot="10800000">
            <a:off x="1991350" y="811545"/>
            <a:ext cx="0" cy="1304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1"/>
          <p:cNvCxnSpPr/>
          <p:nvPr/>
        </p:nvCxnSpPr>
        <p:spPr>
          <a:xfrm>
            <a:off x="1997083" y="816706"/>
            <a:ext cx="4666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1"/>
          <p:cNvCxnSpPr/>
          <p:nvPr/>
        </p:nvCxnSpPr>
        <p:spPr>
          <a:xfrm>
            <a:off x="6669359" y="822096"/>
            <a:ext cx="0" cy="765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31"/>
          <p:cNvCxnSpPr/>
          <p:nvPr/>
        </p:nvCxnSpPr>
        <p:spPr>
          <a:xfrm>
            <a:off x="3097791" y="2951062"/>
            <a:ext cx="607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1"/>
          <p:cNvCxnSpPr/>
          <p:nvPr/>
        </p:nvCxnSpPr>
        <p:spPr>
          <a:xfrm>
            <a:off x="4404882" y="2951062"/>
            <a:ext cx="2637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1"/>
          <p:cNvCxnSpPr/>
          <p:nvPr/>
        </p:nvCxnSpPr>
        <p:spPr>
          <a:xfrm>
            <a:off x="5368001" y="2951062"/>
            <a:ext cx="1020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1"/>
          <p:cNvCxnSpPr/>
          <p:nvPr/>
        </p:nvCxnSpPr>
        <p:spPr>
          <a:xfrm>
            <a:off x="7087858" y="2951062"/>
            <a:ext cx="539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1"/>
          <p:cNvCxnSpPr/>
          <p:nvPr/>
        </p:nvCxnSpPr>
        <p:spPr>
          <a:xfrm>
            <a:off x="7632479" y="2956452"/>
            <a:ext cx="0" cy="63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1"/>
          <p:cNvCxnSpPr/>
          <p:nvPr/>
        </p:nvCxnSpPr>
        <p:spPr>
          <a:xfrm rot="10800000">
            <a:off x="2295314" y="3627751"/>
            <a:ext cx="5308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1"/>
          <p:cNvCxnSpPr/>
          <p:nvPr/>
        </p:nvCxnSpPr>
        <p:spPr>
          <a:xfrm rot="10800000">
            <a:off x="2335321" y="3139727"/>
            <a:ext cx="0" cy="463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4" name="Google Shape;384;p31"/>
          <p:cNvSpPr/>
          <p:nvPr/>
        </p:nvSpPr>
        <p:spPr>
          <a:xfrm>
            <a:off x="1909657" y="2486193"/>
            <a:ext cx="11580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000"/>
          </a:p>
        </p:txBody>
      </p:sp>
      <p:sp>
        <p:nvSpPr>
          <p:cNvPr id="385" name="Google Shape;385;p31"/>
          <p:cNvSpPr/>
          <p:nvPr/>
        </p:nvSpPr>
        <p:spPr>
          <a:xfrm>
            <a:off x="3055988" y="3214557"/>
            <a:ext cx="5460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900"/>
          </a:p>
        </p:txBody>
      </p:sp>
      <p:sp>
        <p:nvSpPr>
          <p:cNvPr id="386" name="Google Shape;386;p31"/>
          <p:cNvSpPr/>
          <p:nvPr/>
        </p:nvSpPr>
        <p:spPr>
          <a:xfrm>
            <a:off x="4311723" y="3214557"/>
            <a:ext cx="5460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387" name="Google Shape;387;p31"/>
          <p:cNvSpPr/>
          <p:nvPr/>
        </p:nvSpPr>
        <p:spPr>
          <a:xfrm>
            <a:off x="5624547" y="3199736"/>
            <a:ext cx="5460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900"/>
          </a:p>
        </p:txBody>
      </p:sp>
      <p:sp>
        <p:nvSpPr>
          <p:cNvPr id="388" name="Google Shape;388;p31"/>
          <p:cNvSpPr/>
          <p:nvPr/>
        </p:nvSpPr>
        <p:spPr>
          <a:xfrm>
            <a:off x="7069226" y="3199736"/>
            <a:ext cx="6321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389" name="Google Shape;389;p31"/>
          <p:cNvSpPr/>
          <p:nvPr/>
        </p:nvSpPr>
        <p:spPr>
          <a:xfrm>
            <a:off x="132288" y="3731375"/>
            <a:ext cx="7831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CU= Control Unit,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PE= Processing Element,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 Memory</a:t>
            </a:r>
            <a:endParaRPr sz="1600"/>
          </a:p>
        </p:txBody>
      </p:sp>
      <p:sp>
        <p:nvSpPr>
          <p:cNvPr id="390" name="Google Shape;390;p31"/>
          <p:cNvSpPr/>
          <p:nvPr/>
        </p:nvSpPr>
        <p:spPr>
          <a:xfrm>
            <a:off x="3602282" y="1530248"/>
            <a:ext cx="913500" cy="17463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576867" y="1194462"/>
            <a:ext cx="89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1100"/>
          </a:p>
        </p:txBody>
      </p:sp>
      <p:sp>
        <p:nvSpPr>
          <p:cNvPr id="392" name="Google Shape;392;p31"/>
          <p:cNvSpPr txBox="1"/>
          <p:nvPr/>
        </p:nvSpPr>
        <p:spPr>
          <a:xfrm>
            <a:off x="3682542" y="1195338"/>
            <a:ext cx="89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1100"/>
          </a:p>
        </p:txBody>
      </p:sp>
      <p:sp>
        <p:nvSpPr>
          <p:cNvPr id="393" name="Google Shape;393;p31"/>
          <p:cNvSpPr txBox="1"/>
          <p:nvPr/>
        </p:nvSpPr>
        <p:spPr>
          <a:xfrm>
            <a:off x="6352028" y="1192811"/>
            <a:ext cx="89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1100"/>
          </a:p>
        </p:txBody>
      </p:sp>
      <p:sp>
        <p:nvSpPr>
          <p:cNvPr id="394" name="Google Shape;394;p31"/>
          <p:cNvSpPr/>
          <p:nvPr/>
        </p:nvSpPr>
        <p:spPr>
          <a:xfrm>
            <a:off x="4592882" y="1530248"/>
            <a:ext cx="913500" cy="17463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6269282" y="1530248"/>
            <a:ext cx="913500" cy="17463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Multiple Instructions, Multiple Data (MIMD) </a:t>
            </a:r>
            <a:endParaRPr/>
          </a:p>
        </p:txBody>
      </p:sp>
      <p:sp>
        <p:nvSpPr>
          <p:cNvPr id="401" name="Google Shape;401;p32"/>
          <p:cNvSpPr txBox="1"/>
          <p:nvPr>
            <p:ph idx="1" type="body"/>
          </p:nvPr>
        </p:nvSpPr>
        <p:spPr>
          <a:xfrm>
            <a:off x="205200" y="519225"/>
            <a:ext cx="57315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processors execute independent instructions on independent data streams.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common category for modern parallel computing.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distributed systems like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SP-2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Beowulf clusters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Example: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Multi-core Processors: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 Core i9 or AMD Ryzen (each core runs independent threads).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Systems: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computing (e.g., AWS clusters, Google TPU pods).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Supercomputers: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supercomputers like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Fugaku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Summit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(MIMD nodes communicate via networks).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High-performance computing (HPC), distributed databases, or real-time applications.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3" name="Google Shape;4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075" y="1680825"/>
            <a:ext cx="2902498" cy="198801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2484250" y="4722775"/>
            <a:ext cx="62937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https://www.hpe.com/emea_europe/en/compute/hpc/lawrence-livermore-national-laboratory.html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Multiple Instructions, Multiple Data (MIMD) </a:t>
            </a:r>
            <a:endParaRPr/>
          </a:p>
        </p:txBody>
      </p:sp>
      <p:sp>
        <p:nvSpPr>
          <p:cNvPr id="410" name="Google Shape;410;p3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33"/>
          <p:cNvSpPr/>
          <p:nvPr/>
        </p:nvSpPr>
        <p:spPr>
          <a:xfrm>
            <a:off x="5110400" y="1089187"/>
            <a:ext cx="1336500" cy="2223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3761997" y="1292296"/>
            <a:ext cx="555900" cy="462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2697470" y="1292296"/>
            <a:ext cx="555900" cy="462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3"/>
          <p:cNvCxnSpPr/>
          <p:nvPr/>
        </p:nvCxnSpPr>
        <p:spPr>
          <a:xfrm>
            <a:off x="6458802" y="1557467"/>
            <a:ext cx="555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3"/>
          <p:cNvCxnSpPr/>
          <p:nvPr/>
        </p:nvCxnSpPr>
        <p:spPr>
          <a:xfrm rot="10800000">
            <a:off x="7020636" y="671809"/>
            <a:ext cx="0" cy="891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3"/>
          <p:cNvCxnSpPr/>
          <p:nvPr/>
        </p:nvCxnSpPr>
        <p:spPr>
          <a:xfrm rot="10800000">
            <a:off x="1905250" y="677326"/>
            <a:ext cx="51213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3"/>
          <p:cNvCxnSpPr/>
          <p:nvPr/>
        </p:nvCxnSpPr>
        <p:spPr>
          <a:xfrm>
            <a:off x="1910902" y="682968"/>
            <a:ext cx="0" cy="801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3"/>
          <p:cNvCxnSpPr/>
          <p:nvPr/>
        </p:nvCxnSpPr>
        <p:spPr>
          <a:xfrm>
            <a:off x="1916816" y="1489764"/>
            <a:ext cx="768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3"/>
          <p:cNvCxnSpPr/>
          <p:nvPr/>
        </p:nvCxnSpPr>
        <p:spPr>
          <a:xfrm>
            <a:off x="3265218" y="1489764"/>
            <a:ext cx="484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33"/>
          <p:cNvCxnSpPr/>
          <p:nvPr/>
        </p:nvCxnSpPr>
        <p:spPr>
          <a:xfrm>
            <a:off x="4329746" y="1489764"/>
            <a:ext cx="768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1" name="Google Shape;421;p33"/>
          <p:cNvSpPr/>
          <p:nvPr/>
        </p:nvSpPr>
        <p:spPr>
          <a:xfrm>
            <a:off x="3761997" y="2781765"/>
            <a:ext cx="555900" cy="462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2697470" y="2781765"/>
            <a:ext cx="555900" cy="4629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33"/>
          <p:cNvCxnSpPr/>
          <p:nvPr/>
        </p:nvCxnSpPr>
        <p:spPr>
          <a:xfrm>
            <a:off x="1916816" y="2979233"/>
            <a:ext cx="768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3"/>
          <p:cNvCxnSpPr/>
          <p:nvPr/>
        </p:nvCxnSpPr>
        <p:spPr>
          <a:xfrm>
            <a:off x="3265218" y="2979233"/>
            <a:ext cx="484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33"/>
          <p:cNvCxnSpPr/>
          <p:nvPr/>
        </p:nvCxnSpPr>
        <p:spPr>
          <a:xfrm>
            <a:off x="4329746" y="2979233"/>
            <a:ext cx="768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33"/>
          <p:cNvCxnSpPr/>
          <p:nvPr/>
        </p:nvCxnSpPr>
        <p:spPr>
          <a:xfrm>
            <a:off x="6458802" y="2979233"/>
            <a:ext cx="555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3"/>
          <p:cNvCxnSpPr/>
          <p:nvPr/>
        </p:nvCxnSpPr>
        <p:spPr>
          <a:xfrm>
            <a:off x="7020636" y="2984875"/>
            <a:ext cx="0" cy="530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3"/>
          <p:cNvCxnSpPr/>
          <p:nvPr/>
        </p:nvCxnSpPr>
        <p:spPr>
          <a:xfrm rot="10800000">
            <a:off x="1905250" y="3520858"/>
            <a:ext cx="51213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3"/>
          <p:cNvCxnSpPr/>
          <p:nvPr/>
        </p:nvCxnSpPr>
        <p:spPr>
          <a:xfrm rot="10800000">
            <a:off x="1910902" y="2973600"/>
            <a:ext cx="0" cy="5529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3"/>
          <p:cNvSpPr/>
          <p:nvPr/>
        </p:nvSpPr>
        <p:spPr>
          <a:xfrm>
            <a:off x="4594400" y="1612476"/>
            <a:ext cx="2448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31" name="Google Shape;431;p33"/>
          <p:cNvSpPr/>
          <p:nvPr/>
        </p:nvSpPr>
        <p:spPr>
          <a:xfrm>
            <a:off x="6581519" y="1680179"/>
            <a:ext cx="2448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2638329" y="1312043"/>
            <a:ext cx="690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/>
          </a:p>
        </p:txBody>
      </p:sp>
      <p:sp>
        <p:nvSpPr>
          <p:cNvPr id="433" name="Google Shape;433;p33"/>
          <p:cNvSpPr/>
          <p:nvPr/>
        </p:nvSpPr>
        <p:spPr>
          <a:xfrm>
            <a:off x="3702857" y="1312043"/>
            <a:ext cx="6579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/>
          </a:p>
        </p:txBody>
      </p:sp>
      <p:sp>
        <p:nvSpPr>
          <p:cNvPr id="434" name="Google Shape;434;p33"/>
          <p:cNvSpPr/>
          <p:nvPr/>
        </p:nvSpPr>
        <p:spPr>
          <a:xfrm>
            <a:off x="2623544" y="2831133"/>
            <a:ext cx="7230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000"/>
          </a:p>
        </p:txBody>
      </p:sp>
      <p:sp>
        <p:nvSpPr>
          <p:cNvPr id="435" name="Google Shape;435;p33"/>
          <p:cNvSpPr/>
          <p:nvPr/>
        </p:nvSpPr>
        <p:spPr>
          <a:xfrm>
            <a:off x="3692508" y="2818438"/>
            <a:ext cx="689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200"/>
          </a:p>
        </p:txBody>
      </p:sp>
      <p:sp>
        <p:nvSpPr>
          <p:cNvPr id="436" name="Google Shape;436;p33"/>
          <p:cNvSpPr/>
          <p:nvPr/>
        </p:nvSpPr>
        <p:spPr>
          <a:xfrm>
            <a:off x="5098572" y="1612476"/>
            <a:ext cx="15684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or Distributed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2039533" y="935444"/>
            <a:ext cx="4362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600"/>
          </a:p>
        </p:txBody>
      </p:sp>
      <p:sp>
        <p:nvSpPr>
          <p:cNvPr id="438" name="Google Shape;438;p33"/>
          <p:cNvSpPr/>
          <p:nvPr/>
        </p:nvSpPr>
        <p:spPr>
          <a:xfrm>
            <a:off x="3245998" y="935444"/>
            <a:ext cx="606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1000"/>
          </a:p>
        </p:txBody>
      </p:sp>
      <p:sp>
        <p:nvSpPr>
          <p:cNvPr id="439" name="Google Shape;439;p33"/>
          <p:cNvSpPr/>
          <p:nvPr/>
        </p:nvSpPr>
        <p:spPr>
          <a:xfrm>
            <a:off x="4452463" y="935444"/>
            <a:ext cx="563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440" name="Google Shape;440;p33"/>
          <p:cNvSpPr/>
          <p:nvPr/>
        </p:nvSpPr>
        <p:spPr>
          <a:xfrm>
            <a:off x="2039533" y="2492617"/>
            <a:ext cx="4362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600"/>
          </a:p>
        </p:txBody>
      </p:sp>
      <p:sp>
        <p:nvSpPr>
          <p:cNvPr id="441" name="Google Shape;441;p33"/>
          <p:cNvSpPr/>
          <p:nvPr/>
        </p:nvSpPr>
        <p:spPr>
          <a:xfrm>
            <a:off x="3217905" y="2492617"/>
            <a:ext cx="606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µIS</a:t>
            </a:r>
            <a:endParaRPr sz="900"/>
          </a:p>
        </p:txBody>
      </p:sp>
      <p:sp>
        <p:nvSpPr>
          <p:cNvPr id="442" name="Google Shape;442;p33"/>
          <p:cNvSpPr/>
          <p:nvPr/>
        </p:nvSpPr>
        <p:spPr>
          <a:xfrm>
            <a:off x="4523431" y="2492617"/>
            <a:ext cx="563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443" name="Google Shape;443;p33"/>
          <p:cNvSpPr/>
          <p:nvPr/>
        </p:nvSpPr>
        <p:spPr>
          <a:xfrm>
            <a:off x="304800" y="3667125"/>
            <a:ext cx="8534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CU= Control Unit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PE= Processing Element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 Memory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IS= Instruction Stream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DS= Data Stream</a:t>
            </a:r>
            <a:endParaRPr sz="1600"/>
          </a:p>
        </p:txBody>
      </p:sp>
      <p:sp>
        <p:nvSpPr>
          <p:cNvPr id="444" name="Google Shape;444;p33"/>
          <p:cNvSpPr/>
          <p:nvPr/>
        </p:nvSpPr>
        <p:spPr>
          <a:xfrm>
            <a:off x="2602845" y="953780"/>
            <a:ext cx="1845000" cy="10155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2602845" y="2443250"/>
            <a:ext cx="1845000" cy="10155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2614673" y="660400"/>
            <a:ext cx="113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1100"/>
          </a:p>
        </p:txBody>
      </p:sp>
      <p:sp>
        <p:nvSpPr>
          <p:cNvPr id="447" name="Google Shape;447;p33"/>
          <p:cNvSpPr txBox="1"/>
          <p:nvPr/>
        </p:nvSpPr>
        <p:spPr>
          <a:xfrm>
            <a:off x="2591017" y="2149869"/>
            <a:ext cx="113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Flynn Classification</a:t>
            </a:r>
            <a:endParaRPr/>
          </a:p>
        </p:txBody>
      </p:sp>
      <p:sp>
        <p:nvSpPr>
          <p:cNvPr id="453" name="Google Shape;453;p3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54" name="Google Shape;454;p34"/>
          <p:cNvGraphicFramePr/>
          <p:nvPr/>
        </p:nvGraphicFramePr>
        <p:xfrm>
          <a:off x="381000" y="115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{79C07EFC-7DB3-4477-A680-E539B6BD7332}</a:tableStyleId>
              </a:tblPr>
              <a:tblGrid>
                <a:gridCol w="574300"/>
                <a:gridCol w="1979100"/>
                <a:gridCol w="1254600"/>
                <a:gridCol w="2129300"/>
                <a:gridCol w="2438550"/>
              </a:tblGrid>
              <a:tr h="521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Category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Definition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Classical Example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Modern Example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Use Case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SISD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instruction, single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Intel 8086, ENIAC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Single-core CPUs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Basic sequential tasks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SIMD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instruction, multiple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Cray-1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GPUs, AVX, TPUs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Vector operations, machine learning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MISD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instructions, single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Fault-tolerant systems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 systems, niche systolic arrays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 detection, redundancy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MIMD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instructions, multiple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IBM SP-2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Multi-core CPUs, cloud clusters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HPC, cloud computing, distributed systems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Systolic Arrays</a:t>
            </a:r>
            <a:endParaRPr/>
          </a:p>
        </p:txBody>
      </p:sp>
      <p:sp>
        <p:nvSpPr>
          <p:cNvPr id="460" name="Google Shape;460;p3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 of Systolic Arrays: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Arrays of processors arranged in a regular, grid-like network. Data flows rhythmically through the array, and each processor performs a small portion of the computation.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Typically used for repetitive, highly parallel computations.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Systolic arrays operate like SIMD systems when the same operation is performed on multiple data elements in a predictable pattern (e.g., matrix multiplication in machine learning).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MISD: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some configurations, systolic arrays could act as MISD systems when different processors perform distinct instructions on the same data stream, though this is less common.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Examples of Systolic Arrays: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TPUs (Tensor Processing Units):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Google’s TPUs use systolic arrays to perform matrix multiplications for machine learning tasks efficiently.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FPGAs: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Field-programmable gate arrays often implement systolic arrays for specialized applications like signal processing or AI inference.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857" y="685375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468" name="Google Shape;468;p36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476" name="Google Shape;476;p3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71582"/>
            <a:ext cx="6452147" cy="411123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484" name="Google Shape;484;p38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492" name="Google Shape;492;p3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500" name="Google Shape;500;p4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508" name="Google Shape;508;p41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516" name="Google Shape;516;p4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42" y="682503"/>
            <a:ext cx="6452147" cy="408939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Systolic Array  Example: </a:t>
            </a:r>
            <a:r>
              <a:rPr lang="en" sz="2100"/>
              <a:t>3x3 Systolic Array Matrix Multiplication</a:t>
            </a:r>
            <a:endParaRPr sz="2100"/>
          </a:p>
        </p:txBody>
      </p:sp>
      <p:sp>
        <p:nvSpPr>
          <p:cNvPr id="524" name="Google Shape;524;p43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arranged in a 2-D grid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accumulates one element of the product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4"/>
          <p:cNvSpPr txBox="1"/>
          <p:nvPr>
            <p:ph type="ctrTitle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Parallelism Styles in Programs</a:t>
            </a:r>
            <a:endParaRPr/>
          </a:p>
        </p:txBody>
      </p:sp>
      <p:sp>
        <p:nvSpPr>
          <p:cNvPr id="531" name="Google Shape;531;p44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Parallelism</a:t>
            </a:r>
            <a:endParaRPr/>
          </a:p>
        </p:txBody>
      </p:sp>
      <p:sp>
        <p:nvSpPr>
          <p:cNvPr id="537" name="Google Shape;537;p45"/>
          <p:cNvSpPr txBox="1"/>
          <p:nvPr>
            <p:ph idx="1" type="body"/>
          </p:nvPr>
        </p:nvSpPr>
        <p:spPr>
          <a:xfrm>
            <a:off x="205200" y="519225"/>
            <a:ext cx="88242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data elements processed in 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manner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simultaneously.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Examples: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programming with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CUDA/OpenCL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Applying a kernel to every element in a matrix.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frameworks: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neural networks.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NumPy's </a:t>
            </a:r>
            <a:r>
              <a:rPr b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vectorize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parallel loops for mathematical operations on arrays.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example: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Processing: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Applying a filter (e.g., Gaussian blur) to every pixel of an image in parallel.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Connection: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Efficiently implemented on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 architectures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like GPUs, vector processors, or CPUs with SIMD extensions (e.g., Intel AVX).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Parallelism</a:t>
            </a:r>
            <a:endParaRPr/>
          </a:p>
        </p:txBody>
      </p:sp>
      <p:sp>
        <p:nvSpPr>
          <p:cNvPr id="544" name="Google Shape;544;p46"/>
          <p:cNvSpPr txBox="1"/>
          <p:nvPr>
            <p:ph idx="1" type="body"/>
          </p:nvPr>
        </p:nvSpPr>
        <p:spPr>
          <a:xfrm>
            <a:off x="205200" y="519225"/>
            <a:ext cx="88242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functions or program modules execute concurrently.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Examples: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Multi-threaded programs: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Threads handling multiple client requests independently (e.g., using Python's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threading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or C++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std::thread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Pipelines: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ETL (Extract, Transform, Load) processes with independent stages running in parallel.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systems: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MapReduce Frameworks (Hadoop):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Splitting data processing tasks across nodes.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Example: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Separate threads handle tasks like request parsing, database queries, and response generation simultaneously for different parts of the application.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Connection: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suited for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MIMD architectures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such as multi-core CPUs, clusters, and distributed systems.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Parallelism</a:t>
            </a:r>
            <a:endParaRPr/>
          </a:p>
        </p:txBody>
      </p:sp>
      <p:sp>
        <p:nvSpPr>
          <p:cNvPr id="551" name="Google Shape;551;p47"/>
          <p:cNvSpPr txBox="1"/>
          <p:nvPr>
            <p:ph idx="1" type="body"/>
          </p:nvPr>
        </p:nvSpPr>
        <p:spPr>
          <a:xfrm>
            <a:off x="205200" y="519225"/>
            <a:ext cx="88242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 are arranged to overlap their execution, reducing idle time.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Examples: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Asynchronous Programming: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Python’s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asyncio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overlap I/O-bound operations (e.g., fetching multiple webpages) or non-blocking I/O in C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Pipelines in CPUs: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→ Decode → Execute stages overlap for better throughput.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Example: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Packet Processing: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one packet is being sent, the next packet is prepared, reducing transmission delay.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Matrix Multiplication with Pipelining: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systolic array processes partial products of a matrix while new rows and columns are streamed.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Connection: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Implemented in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pipelined architectures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common in all modern CPUs and specialized hardware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 </a:t>
            </a:r>
            <a:endParaRPr/>
          </a:p>
        </p:txBody>
      </p:sp>
      <p:sp>
        <p:nvSpPr>
          <p:cNvPr id="558" name="Google Shape;558;p48"/>
          <p:cNvSpPr txBox="1"/>
          <p:nvPr>
            <p:ph idx="1" type="body"/>
          </p:nvPr>
        </p:nvSpPr>
        <p:spPr>
          <a:xfrm>
            <a:off x="52800" y="519225"/>
            <a:ext cx="4893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 are divided into sequential stages, with each stage performing part of the 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Increase throughput by overlapping the execution of tasks.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– Floating Point Addition Pipeline: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Align operands to the same exponent.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the addition operation.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Adjust the result to standard floating-point format.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tasks, each requiring all 3 stages.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takes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clocks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complete all tasks, compared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clocks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a non-pipelined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3x faster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number of tasks is large.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48"/>
          <p:cNvSpPr/>
          <p:nvPr/>
        </p:nvSpPr>
        <p:spPr>
          <a:xfrm>
            <a:off x="5568950" y="2216150"/>
            <a:ext cx="3187800" cy="158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8"/>
          <p:cNvSpPr/>
          <p:nvPr/>
        </p:nvSpPr>
        <p:spPr>
          <a:xfrm>
            <a:off x="5568950" y="32829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8"/>
          <p:cNvSpPr/>
          <p:nvPr/>
        </p:nvSpPr>
        <p:spPr>
          <a:xfrm>
            <a:off x="6102350" y="32829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8"/>
          <p:cNvSpPr/>
          <p:nvPr/>
        </p:nvSpPr>
        <p:spPr>
          <a:xfrm>
            <a:off x="6635750" y="32829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8"/>
          <p:cNvSpPr/>
          <p:nvPr/>
        </p:nvSpPr>
        <p:spPr>
          <a:xfrm>
            <a:off x="6102350" y="27495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6635750" y="27495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7169150" y="27495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6337300" y="1231900"/>
            <a:ext cx="507900" cy="507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6870700" y="1231900"/>
            <a:ext cx="507900" cy="507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7404100" y="1231900"/>
            <a:ext cx="507900" cy="507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48"/>
          <p:cNvCxnSpPr/>
          <p:nvPr/>
        </p:nvCxnSpPr>
        <p:spPr>
          <a:xfrm>
            <a:off x="5880100" y="1447800"/>
            <a:ext cx="431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48"/>
          <p:cNvCxnSpPr/>
          <p:nvPr/>
        </p:nvCxnSpPr>
        <p:spPr>
          <a:xfrm>
            <a:off x="7937500" y="1447800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" name="Google Shape;572;p48"/>
          <p:cNvSpPr/>
          <p:nvPr/>
        </p:nvSpPr>
        <p:spPr>
          <a:xfrm>
            <a:off x="5929313" y="747713"/>
            <a:ext cx="2421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3-Stage Pipeline</a:t>
            </a:r>
            <a:endParaRPr sz="800"/>
          </a:p>
        </p:txBody>
      </p:sp>
      <p:sp>
        <p:nvSpPr>
          <p:cNvPr id="573" name="Google Shape;573;p48"/>
          <p:cNvSpPr/>
          <p:nvPr/>
        </p:nvSpPr>
        <p:spPr>
          <a:xfrm>
            <a:off x="5446628" y="1128725"/>
            <a:ext cx="520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4" name="Google Shape;574;p48"/>
          <p:cNvSpPr/>
          <p:nvPr/>
        </p:nvSpPr>
        <p:spPr>
          <a:xfrm>
            <a:off x="8367713" y="1204913"/>
            <a:ext cx="67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sz="1200"/>
          </a:p>
        </p:txBody>
      </p:sp>
      <p:sp>
        <p:nvSpPr>
          <p:cNvPr id="575" name="Google Shape;575;p48"/>
          <p:cNvSpPr/>
          <p:nvPr/>
        </p:nvSpPr>
        <p:spPr>
          <a:xfrm>
            <a:off x="5014913" y="2195513"/>
            <a:ext cx="554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576" name="Google Shape;576;p48"/>
          <p:cNvSpPr/>
          <p:nvPr/>
        </p:nvSpPr>
        <p:spPr>
          <a:xfrm>
            <a:off x="5014913" y="2728913"/>
            <a:ext cx="554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577" name="Google Shape;577;p48"/>
          <p:cNvSpPr/>
          <p:nvPr/>
        </p:nvSpPr>
        <p:spPr>
          <a:xfrm>
            <a:off x="5014913" y="3338513"/>
            <a:ext cx="554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/>
          </a:p>
        </p:txBody>
      </p:sp>
      <p:sp>
        <p:nvSpPr>
          <p:cNvPr id="578" name="Google Shape;578;p48"/>
          <p:cNvSpPr/>
          <p:nvPr/>
        </p:nvSpPr>
        <p:spPr>
          <a:xfrm>
            <a:off x="6996113" y="3871913"/>
            <a:ext cx="1097100" cy="45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Clocks</a:t>
            </a:r>
            <a:endParaRPr/>
          </a:p>
        </p:txBody>
      </p:sp>
      <p:cxnSp>
        <p:nvCxnSpPr>
          <p:cNvPr id="579" name="Google Shape;579;p48"/>
          <p:cNvCxnSpPr/>
          <p:nvPr/>
        </p:nvCxnSpPr>
        <p:spPr>
          <a:xfrm>
            <a:off x="7092950" y="5943600"/>
            <a:ext cx="11304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48"/>
          <p:cNvSpPr/>
          <p:nvPr/>
        </p:nvSpPr>
        <p:spPr>
          <a:xfrm>
            <a:off x="6310313" y="1204913"/>
            <a:ext cx="624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sz="1000"/>
          </a:p>
        </p:txBody>
      </p:sp>
      <p:sp>
        <p:nvSpPr>
          <p:cNvPr id="581" name="Google Shape;581;p48"/>
          <p:cNvSpPr/>
          <p:nvPr/>
        </p:nvSpPr>
        <p:spPr>
          <a:xfrm>
            <a:off x="6843713" y="1204913"/>
            <a:ext cx="1095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S2</a:t>
            </a:r>
            <a:endParaRPr sz="1200"/>
          </a:p>
        </p:txBody>
      </p:sp>
      <p:sp>
        <p:nvSpPr>
          <p:cNvPr id="582" name="Google Shape;582;p48"/>
          <p:cNvSpPr/>
          <p:nvPr/>
        </p:nvSpPr>
        <p:spPr>
          <a:xfrm>
            <a:off x="6635750" y="22161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8"/>
          <p:cNvSpPr/>
          <p:nvPr/>
        </p:nvSpPr>
        <p:spPr>
          <a:xfrm>
            <a:off x="7169150" y="22161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8"/>
          <p:cNvSpPr/>
          <p:nvPr/>
        </p:nvSpPr>
        <p:spPr>
          <a:xfrm>
            <a:off x="7702550" y="22161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8"/>
          <p:cNvSpPr/>
          <p:nvPr/>
        </p:nvSpPr>
        <p:spPr>
          <a:xfrm>
            <a:off x="8235950" y="22161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7702550" y="27495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8235950" y="27495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8"/>
          <p:cNvSpPr/>
          <p:nvPr/>
        </p:nvSpPr>
        <p:spPr>
          <a:xfrm>
            <a:off x="7169150" y="32829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8"/>
          <p:cNvSpPr/>
          <p:nvPr/>
        </p:nvSpPr>
        <p:spPr>
          <a:xfrm>
            <a:off x="7702550" y="3282950"/>
            <a:ext cx="520800" cy="52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5548313" y="33766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T00</a:t>
            </a:r>
            <a:endParaRPr sz="1200"/>
          </a:p>
        </p:txBody>
      </p:sp>
      <p:sp>
        <p:nvSpPr>
          <p:cNvPr id="591" name="Google Shape;591;p48"/>
          <p:cNvSpPr/>
          <p:nvPr/>
        </p:nvSpPr>
        <p:spPr>
          <a:xfrm>
            <a:off x="6081713" y="29194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T01</a:t>
            </a:r>
            <a:endParaRPr sz="1200"/>
          </a:p>
        </p:txBody>
      </p:sp>
      <p:sp>
        <p:nvSpPr>
          <p:cNvPr id="592" name="Google Shape;592;p48"/>
          <p:cNvSpPr/>
          <p:nvPr/>
        </p:nvSpPr>
        <p:spPr>
          <a:xfrm>
            <a:off x="6691313" y="23860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T02</a:t>
            </a:r>
            <a:endParaRPr sz="1200"/>
          </a:p>
        </p:txBody>
      </p:sp>
      <p:sp>
        <p:nvSpPr>
          <p:cNvPr id="593" name="Google Shape;593;p48"/>
          <p:cNvSpPr/>
          <p:nvPr/>
        </p:nvSpPr>
        <p:spPr>
          <a:xfrm>
            <a:off x="6081713" y="33766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T10</a:t>
            </a:r>
            <a:endParaRPr sz="1200"/>
          </a:p>
        </p:txBody>
      </p:sp>
      <p:sp>
        <p:nvSpPr>
          <p:cNvPr id="594" name="Google Shape;594;p48"/>
          <p:cNvSpPr/>
          <p:nvPr/>
        </p:nvSpPr>
        <p:spPr>
          <a:xfrm>
            <a:off x="6615113" y="29194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T11</a:t>
            </a:r>
            <a:endParaRPr sz="1200"/>
          </a:p>
        </p:txBody>
      </p:sp>
      <p:sp>
        <p:nvSpPr>
          <p:cNvPr id="595" name="Google Shape;595;p48"/>
          <p:cNvSpPr/>
          <p:nvPr/>
        </p:nvSpPr>
        <p:spPr>
          <a:xfrm>
            <a:off x="7148513" y="23860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T12</a:t>
            </a:r>
            <a:endParaRPr sz="1200"/>
          </a:p>
        </p:txBody>
      </p:sp>
      <p:sp>
        <p:nvSpPr>
          <p:cNvPr id="596" name="Google Shape;596;p48"/>
          <p:cNvSpPr/>
          <p:nvPr/>
        </p:nvSpPr>
        <p:spPr>
          <a:xfrm>
            <a:off x="6691313" y="33766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T20</a:t>
            </a:r>
            <a:endParaRPr sz="1200"/>
          </a:p>
        </p:txBody>
      </p:sp>
      <p:sp>
        <p:nvSpPr>
          <p:cNvPr id="597" name="Google Shape;597;p48"/>
          <p:cNvSpPr/>
          <p:nvPr/>
        </p:nvSpPr>
        <p:spPr>
          <a:xfrm>
            <a:off x="7148513" y="29194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T21</a:t>
            </a:r>
            <a:endParaRPr sz="1200"/>
          </a:p>
        </p:txBody>
      </p:sp>
      <p:sp>
        <p:nvSpPr>
          <p:cNvPr id="598" name="Google Shape;598;p48"/>
          <p:cNvSpPr/>
          <p:nvPr/>
        </p:nvSpPr>
        <p:spPr>
          <a:xfrm>
            <a:off x="7681913" y="23860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T22</a:t>
            </a:r>
            <a:endParaRPr sz="1200"/>
          </a:p>
        </p:txBody>
      </p:sp>
      <p:sp>
        <p:nvSpPr>
          <p:cNvPr id="599" name="Google Shape;599;p48"/>
          <p:cNvSpPr/>
          <p:nvPr/>
        </p:nvSpPr>
        <p:spPr>
          <a:xfrm>
            <a:off x="7224713" y="33766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T30</a:t>
            </a:r>
            <a:endParaRPr sz="1200"/>
          </a:p>
        </p:txBody>
      </p:sp>
      <p:sp>
        <p:nvSpPr>
          <p:cNvPr id="600" name="Google Shape;600;p48"/>
          <p:cNvSpPr/>
          <p:nvPr/>
        </p:nvSpPr>
        <p:spPr>
          <a:xfrm>
            <a:off x="7681913" y="29194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T31</a:t>
            </a:r>
            <a:endParaRPr sz="1200"/>
          </a:p>
        </p:txBody>
      </p:sp>
      <p:sp>
        <p:nvSpPr>
          <p:cNvPr id="601" name="Google Shape;601;p48"/>
          <p:cNvSpPr/>
          <p:nvPr/>
        </p:nvSpPr>
        <p:spPr>
          <a:xfrm>
            <a:off x="8215313" y="2386013"/>
            <a:ext cx="485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T32</a:t>
            </a:r>
            <a:endParaRPr sz="1200"/>
          </a:p>
        </p:txBody>
      </p:sp>
      <p:sp>
        <p:nvSpPr>
          <p:cNvPr id="602" name="Google Shape;602;p48"/>
          <p:cNvSpPr/>
          <p:nvPr/>
        </p:nvSpPr>
        <p:spPr>
          <a:xfrm>
            <a:off x="7758113" y="3376613"/>
            <a:ext cx="4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T40</a:t>
            </a:r>
            <a:endParaRPr/>
          </a:p>
        </p:txBody>
      </p:sp>
      <p:sp>
        <p:nvSpPr>
          <p:cNvPr id="603" name="Google Shape;603;p48"/>
          <p:cNvSpPr/>
          <p:nvPr/>
        </p:nvSpPr>
        <p:spPr>
          <a:xfrm>
            <a:off x="8291513" y="2919413"/>
            <a:ext cx="4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T41</a:t>
            </a:r>
            <a:endParaRPr/>
          </a:p>
        </p:txBody>
      </p:sp>
      <p:sp>
        <p:nvSpPr>
          <p:cNvPr id="604" name="Google Shape;604;p48"/>
          <p:cNvSpPr/>
          <p:nvPr/>
        </p:nvSpPr>
        <p:spPr>
          <a:xfrm>
            <a:off x="8291513" y="3376613"/>
            <a:ext cx="4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T50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</a:t>
            </a:r>
            <a:endParaRPr/>
          </a:p>
        </p:txBody>
      </p:sp>
      <p:sp>
        <p:nvSpPr>
          <p:cNvPr id="610" name="Google Shape;610;p4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Application – Instruction Pipelines: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Pipelined CPU processing where stages include: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Fetch (IF):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Retrieve instruction from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Decode (ID):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Interpret the instruction.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Operand Fetch (OF):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Retrieve required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(EX):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the operation.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Back (WB):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 results back into memory or registers.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throughput by overlapping these stages across multiple instructions.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Advantage: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overlapped/temporal parallelism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maximize system efficiency.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Hazards</a:t>
            </a:r>
            <a:endParaRPr/>
          </a:p>
        </p:txBody>
      </p:sp>
      <p:sp>
        <p:nvSpPr>
          <p:cNvPr id="617" name="Google Shape;617;p5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Hazards in Pipelines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Occurs when an instruction depends on the result of a previous instruction that has not yet completed.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Data Hazards: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(Read After Write):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CopyEdit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R1, R2, R3  // Produces result in R1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 R4, R1, R5  // Needs R1 but ADD is not finished yet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 stalls the pipeline.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Techniques: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Forwarding/Bypassing: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intermediate results directly from pipeline stages.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Stalling: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Delay dependent instructions until the hazard resolves.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r>
              <a:rPr lang="en"/>
              <a:t> Hazards</a:t>
            </a:r>
            <a:endParaRPr/>
          </a:p>
        </p:txBody>
      </p:sp>
      <p:sp>
        <p:nvSpPr>
          <p:cNvPr id="624" name="Google Shape;624;p51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Occurs when multiple instructions require the same hardware resource at the same time.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Memory Port: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instruction is fetching data from memory while another needs to write results back to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ALU: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floating-point instructions require the ALU simultaneously.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the pipeline from executing instructions in parallel.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Introduces stalls until the resource becomes available.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Techniques: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Resources: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 duplicate units (e.g., dual-port memory or multiple ALUs).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Stalls: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Serialize access when resources are limited.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Hazards</a:t>
            </a:r>
            <a:endParaRPr/>
          </a:p>
        </p:txBody>
      </p:sp>
      <p:sp>
        <p:nvSpPr>
          <p:cNvPr id="631" name="Google Shape;631;p5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Occurs when the pipeline is unsure of which instruction to fetch next due to branches or jumps.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BEQ R1, R2, LABEL  // Conditional branch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 R3, R4, R5     // Next instruction depends on the branch outcome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pipeline must wait to determine whether the branch is taken or not.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Techniques: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Prediction: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the branch outcome to keep the pipeline moving.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CPUs achieve ~90-95% prediction accuracy.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Speculative Execution: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instructions along the predicted path but discard them if the prediction is wrong.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Flush: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incorrect instructions when a branch misprediction occurs, introducing a stall.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pipeline efficiency, especially in branch-heavy programs.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3"/>
          <p:cNvSpPr txBox="1"/>
          <p:nvPr>
            <p:ph type="ctrTitle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Operational Models for Parallel Computers </a:t>
            </a:r>
            <a:endParaRPr/>
          </a:p>
        </p:txBody>
      </p:sp>
      <p:sp>
        <p:nvSpPr>
          <p:cNvPr id="638" name="Google Shape;638;p5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</a:t>
            </a:r>
            <a:endParaRPr/>
          </a:p>
        </p:txBody>
      </p:sp>
      <p:sp>
        <p:nvSpPr>
          <p:cNvPr id="644" name="Google Shape;644;p5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Categories of Commercial High-Performance Computers (Historical Perspective):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Now integrated into modern processors (e.g., GPUs, Intel AVX, ARM NEON).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MIMD: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Basis for multi-core CPUs and distributed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Processors: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Historical standalone systems; vectorization concepts live on in SIMD extensions.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Modern clusters are heterogeneous, combining CPUs, GPUs, and accelerators.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Systems: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 a mix of these models at different levels of architecture.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Supercomputers like Fugaku and Summit integrate SIMD, MIMD, and cluster architectures.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5"/>
          <p:cNvSpPr txBox="1"/>
          <p:nvPr>
            <p:ph idx="1" type="body"/>
          </p:nvPr>
        </p:nvSpPr>
        <p:spPr>
          <a:xfrm>
            <a:off x="1853050" y="1965300"/>
            <a:ext cx="5550600" cy="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600"/>
              <a:t>SIMD and Vector Processors</a:t>
            </a:r>
            <a:endParaRPr b="1" sz="2600"/>
          </a:p>
        </p:txBody>
      </p:sp>
      <p:sp>
        <p:nvSpPr>
          <p:cNvPr id="651" name="Google Shape;651;p5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6"/>
          <p:cNvSpPr txBox="1"/>
          <p:nvPr>
            <p:ph type="title"/>
          </p:nvPr>
        </p:nvSpPr>
        <p:spPr>
          <a:xfrm>
            <a:off x="83700" y="61400"/>
            <a:ext cx="8295900" cy="10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Vector Processors</a:t>
            </a:r>
            <a:endParaRPr/>
          </a:p>
        </p:txBody>
      </p:sp>
      <p:sp>
        <p:nvSpPr>
          <p:cNvPr id="657" name="Google Shape;657;p56"/>
          <p:cNvSpPr txBox="1"/>
          <p:nvPr>
            <p:ph idx="1" type="body"/>
          </p:nvPr>
        </p:nvSpPr>
        <p:spPr>
          <a:xfrm>
            <a:off x="205200" y="1063700"/>
            <a:ext cx="88668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Vector Processing: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entire loops manipulating arrays with a single vector instruction.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Optimization: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entire arrays from memory in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manner, leveraging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high-speed interleaved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Registers: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and operate on entire arrays in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vector registers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minimizing memory access delays.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for Scalar Operations: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both scalar and vector functional units and instructions, supporting scalar and vector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 of Operations: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Scalar and Vector Operand Combinations: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 x V -&gt; V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Scalar times vector produces a vector (e.g., scaling a vector).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 -&gt; 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Vector reduces to scalar (e.g., sum of vector elements).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 x V -&gt; V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Vector times vector produces a vector (e.g., element-wise multiplication).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 -&gt; V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Vector to vector operations (e.g., transformations like negation).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7"/>
          <p:cNvSpPr txBox="1"/>
          <p:nvPr>
            <p:ph type="title"/>
          </p:nvPr>
        </p:nvSpPr>
        <p:spPr>
          <a:xfrm>
            <a:off x="83700" y="61400"/>
            <a:ext cx="8295900" cy="53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Decline of Standalone Vector Processors</a:t>
            </a:r>
            <a:endParaRPr/>
          </a:p>
        </p:txBody>
      </p:sp>
      <p:sp>
        <p:nvSpPr>
          <p:cNvPr id="664" name="Google Shape;664;p57"/>
          <p:cNvSpPr txBox="1"/>
          <p:nvPr>
            <p:ph idx="1" type="body"/>
          </p:nvPr>
        </p:nvSpPr>
        <p:spPr>
          <a:xfrm>
            <a:off x="205200" y="536875"/>
            <a:ext cx="8866800" cy="44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Dominance (1970s-1980s):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processors like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Cray-1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 SX series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were highly successful in scientific and engineering applications, leveraging their ability to process arrays efficiently.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They Declined: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of Custom Hardware: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Standalone vector processors required specialized, expensive hardware, which became less competitive as general-purpose processors improved.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 Issues: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processors excel at data-parallel workloads but struggled to adapt to task-parallel workloads and massively distributed systems (e.g., modern supercomputers).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Rise of Commodity Hardware: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emergence of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commodity microprocessors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(MIMD systems with SIMD extensions) offered cost-effective alternatives that combined vector-like capabilities with flexibility.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 to Clusters: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systems and clusters using off-the-shelf processors became the dominant architecture for high-performance computing (HPC), reducing the demand for custom vector hardware.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 b="1"/>
          </a:p>
        </p:txBody>
      </p:sp>
      <p:sp>
        <p:nvSpPr>
          <p:cNvPr id="671" name="Google Shape;671;p58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SIMD (Single Instruction, Multiple Data):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designed for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parallelism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applying the same operation to multiple data items simultaneously.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Context: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1980s: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Standalone SIMD machines like Connection Machine, Thinking Machines CM-2.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Integrated into modern CPUs, GPUs, and accelerators.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SIMD Extensions: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SIMD Extensions: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(Advanced Vector Extensions), IBM VMX/Altivec, ARM NEON.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SIMD-like Model: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(Single Instruction, Multiple Threads).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Broadcast: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Microinstructions are broadcast to all processing elements.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Synchronization: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simultaneous operation on all elements.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– Independent Branching: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Divergence occurs if different elements need to execute different instructions (e.g., in GPUs).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678" name="Google Shape;678;p5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59"/>
          <p:cNvSpPr/>
          <p:nvPr/>
        </p:nvSpPr>
        <p:spPr>
          <a:xfrm>
            <a:off x="2465387" y="25280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4821237" y="15056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5964225" y="1581850"/>
            <a:ext cx="4683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p59"/>
          <p:cNvCxnSpPr/>
          <p:nvPr/>
        </p:nvCxnSpPr>
        <p:spPr>
          <a:xfrm>
            <a:off x="5119687" y="21152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59"/>
          <p:cNvCxnSpPr/>
          <p:nvPr/>
        </p:nvCxnSpPr>
        <p:spPr>
          <a:xfrm>
            <a:off x="2840037" y="24137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9"/>
          <p:cNvCxnSpPr/>
          <p:nvPr/>
        </p:nvCxnSpPr>
        <p:spPr>
          <a:xfrm>
            <a:off x="2833687" y="24200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59"/>
          <p:cNvCxnSpPr/>
          <p:nvPr/>
        </p:nvCxnSpPr>
        <p:spPr>
          <a:xfrm>
            <a:off x="7329487" y="24200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59"/>
          <p:cNvCxnSpPr/>
          <p:nvPr/>
        </p:nvCxnSpPr>
        <p:spPr>
          <a:xfrm>
            <a:off x="4357687" y="24200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59"/>
          <p:cNvSpPr/>
          <p:nvPr/>
        </p:nvSpPr>
        <p:spPr>
          <a:xfrm>
            <a:off x="2611437" y="28772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9"/>
          <p:cNvSpPr/>
          <p:nvPr/>
        </p:nvSpPr>
        <p:spPr>
          <a:xfrm>
            <a:off x="1620837" y="29534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59"/>
          <p:cNvCxnSpPr/>
          <p:nvPr/>
        </p:nvCxnSpPr>
        <p:spPr>
          <a:xfrm>
            <a:off x="2154237" y="30375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0" name="Google Shape;690;p59"/>
          <p:cNvSpPr/>
          <p:nvPr/>
        </p:nvSpPr>
        <p:spPr>
          <a:xfrm>
            <a:off x="4135437" y="28772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59"/>
          <p:cNvCxnSpPr/>
          <p:nvPr/>
        </p:nvCxnSpPr>
        <p:spPr>
          <a:xfrm>
            <a:off x="3678237" y="30375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2" name="Google Shape;692;p59"/>
          <p:cNvSpPr/>
          <p:nvPr/>
        </p:nvSpPr>
        <p:spPr>
          <a:xfrm>
            <a:off x="7107237" y="28772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59"/>
          <p:cNvCxnSpPr/>
          <p:nvPr/>
        </p:nvCxnSpPr>
        <p:spPr>
          <a:xfrm>
            <a:off x="6650037" y="30375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4" name="Google Shape;694;p59"/>
          <p:cNvCxnSpPr/>
          <p:nvPr/>
        </p:nvCxnSpPr>
        <p:spPr>
          <a:xfrm rot="10800000">
            <a:off x="5418237" y="18041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5" name="Google Shape;695;p59"/>
          <p:cNvSpPr/>
          <p:nvPr/>
        </p:nvSpPr>
        <p:spPr>
          <a:xfrm>
            <a:off x="4979987" y="29725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696" name="Google Shape;696;p59"/>
          <p:cNvCxnSpPr/>
          <p:nvPr/>
        </p:nvCxnSpPr>
        <p:spPr>
          <a:xfrm>
            <a:off x="2833687" y="33344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7" name="Google Shape;697;p59"/>
          <p:cNvCxnSpPr/>
          <p:nvPr/>
        </p:nvCxnSpPr>
        <p:spPr>
          <a:xfrm>
            <a:off x="7329487" y="33344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8" name="Google Shape;698;p59"/>
          <p:cNvCxnSpPr/>
          <p:nvPr/>
        </p:nvCxnSpPr>
        <p:spPr>
          <a:xfrm>
            <a:off x="4357687" y="33344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9" name="Google Shape;699;p59"/>
          <p:cNvSpPr/>
          <p:nvPr/>
        </p:nvSpPr>
        <p:spPr>
          <a:xfrm>
            <a:off x="4892675" y="16723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700" name="Google Shape;700;p59"/>
          <p:cNvSpPr/>
          <p:nvPr/>
        </p:nvSpPr>
        <p:spPr>
          <a:xfrm>
            <a:off x="5970571" y="1753300"/>
            <a:ext cx="841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100"/>
          </a:p>
        </p:txBody>
      </p:sp>
      <p:sp>
        <p:nvSpPr>
          <p:cNvPr id="701" name="Google Shape;701;p59"/>
          <p:cNvSpPr/>
          <p:nvPr/>
        </p:nvSpPr>
        <p:spPr>
          <a:xfrm>
            <a:off x="2617787" y="29725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702" name="Google Shape;702;p59"/>
          <p:cNvSpPr/>
          <p:nvPr/>
        </p:nvSpPr>
        <p:spPr>
          <a:xfrm>
            <a:off x="1574800" y="30074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703" name="Google Shape;703;p59"/>
          <p:cNvSpPr/>
          <p:nvPr/>
        </p:nvSpPr>
        <p:spPr>
          <a:xfrm>
            <a:off x="6116637" y="29534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9"/>
          <p:cNvSpPr/>
          <p:nvPr/>
        </p:nvSpPr>
        <p:spPr>
          <a:xfrm>
            <a:off x="6057900" y="30074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705" name="Google Shape;705;p59"/>
          <p:cNvSpPr/>
          <p:nvPr/>
        </p:nvSpPr>
        <p:spPr>
          <a:xfrm>
            <a:off x="3144837" y="29534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9"/>
          <p:cNvSpPr/>
          <p:nvPr/>
        </p:nvSpPr>
        <p:spPr>
          <a:xfrm>
            <a:off x="3086100" y="29963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707" name="Google Shape;707;p59"/>
          <p:cNvSpPr/>
          <p:nvPr/>
        </p:nvSpPr>
        <p:spPr>
          <a:xfrm>
            <a:off x="4141787" y="29725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708" name="Google Shape;708;p59"/>
          <p:cNvSpPr/>
          <p:nvPr/>
        </p:nvSpPr>
        <p:spPr>
          <a:xfrm>
            <a:off x="7113587" y="29725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709" name="Google Shape;709;p59"/>
          <p:cNvSpPr/>
          <p:nvPr/>
        </p:nvSpPr>
        <p:spPr>
          <a:xfrm>
            <a:off x="4598987" y="25153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59"/>
          <p:cNvCxnSpPr/>
          <p:nvPr/>
        </p:nvCxnSpPr>
        <p:spPr>
          <a:xfrm>
            <a:off x="1843087" y="33344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9"/>
          <p:cNvCxnSpPr/>
          <p:nvPr/>
        </p:nvCxnSpPr>
        <p:spPr>
          <a:xfrm>
            <a:off x="1011237" y="35567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9"/>
          <p:cNvCxnSpPr/>
          <p:nvPr/>
        </p:nvCxnSpPr>
        <p:spPr>
          <a:xfrm>
            <a:off x="3443287" y="33344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9"/>
          <p:cNvCxnSpPr/>
          <p:nvPr/>
        </p:nvCxnSpPr>
        <p:spPr>
          <a:xfrm>
            <a:off x="6415087" y="33344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59"/>
          <p:cNvSpPr/>
          <p:nvPr/>
        </p:nvSpPr>
        <p:spPr>
          <a:xfrm>
            <a:off x="1169987" y="40393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5461000" y="14421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716" name="Google Shape;716;p59"/>
          <p:cNvSpPr/>
          <p:nvPr/>
        </p:nvSpPr>
        <p:spPr>
          <a:xfrm>
            <a:off x="2105025" y="26121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717" name="Google Shape;717;p59"/>
          <p:cNvSpPr/>
          <p:nvPr/>
        </p:nvSpPr>
        <p:spPr>
          <a:xfrm>
            <a:off x="3629025" y="26121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718" name="Google Shape;718;p59"/>
          <p:cNvSpPr/>
          <p:nvPr/>
        </p:nvSpPr>
        <p:spPr>
          <a:xfrm>
            <a:off x="6600825" y="26121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719" name="Google Shape;719;p59"/>
          <p:cNvSpPr/>
          <p:nvPr/>
        </p:nvSpPr>
        <p:spPr>
          <a:xfrm>
            <a:off x="5410200" y="20184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457200" y="35424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726" name="Google Shape;726;p6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60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60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60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60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1" name="Google Shape;731;p60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60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60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4" name="Google Shape;734;p60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5" name="Google Shape;735;p60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60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60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8" name="Google Shape;738;p60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60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40" name="Google Shape;740;p60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p60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2" name="Google Shape;742;p60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43" name="Google Shape;743;p60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744" name="Google Shape;744;p60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5" name="Google Shape;745;p60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6" name="Google Shape;746;p60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47" name="Google Shape;747;p60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748" name="Google Shape;748;p60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749" name="Google Shape;749;p60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750" name="Google Shape;750;p60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751" name="Google Shape;751;p60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60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753" name="Google Shape;753;p60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755" name="Google Shape;755;p60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756" name="Google Shape;756;p60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757" name="Google Shape;757;p60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8" name="Google Shape;758;p60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60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60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60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60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764" name="Google Shape;764;p60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765" name="Google Shape;765;p60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766" name="Google Shape;766;p60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767" name="Google Shape;767;p60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0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769" name="Google Shape;769;p60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 (Control Unit):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controller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issues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microinstructions (µIS)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all the processing elements (PEs).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for: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Decoding the instruction sequence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input).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Broadcasting instructions to all PEs.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that all PEs execute the same operation synchronously.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775" name="Google Shape;775;p6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61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1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1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61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61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61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61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61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4" name="Google Shape;784;p61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6" name="Google Shape;786;p61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7" name="Google Shape;787;p61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61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9" name="Google Shape;789;p61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61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1" name="Google Shape;791;p61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2" name="Google Shape;792;p61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793" name="Google Shape;793;p61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4" name="Google Shape;794;p61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5" name="Google Shape;795;p61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6" name="Google Shape;796;p61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797" name="Google Shape;797;p61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798" name="Google Shape;798;p61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799" name="Google Shape;799;p61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800" name="Google Shape;800;p61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1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802" name="Google Shape;802;p61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1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804" name="Google Shape;804;p61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805" name="Google Shape;805;p61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806" name="Google Shape;806;p61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p61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61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61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61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61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813" name="Google Shape;813;p61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814" name="Google Shape;814;p61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815" name="Google Shape;815;p61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816" name="Google Shape;816;p61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61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818" name="Google Shape;818;p61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 (Control Memory):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the program or instructions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that the control unit fetches and executes.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the SIMD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824" name="Google Shape;824;p6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5" name="Google Shape;825;p62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2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62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62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62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62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62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62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3" name="Google Shape;833;p62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62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5" name="Google Shape;835;p62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" name="Google Shape;836;p62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7" name="Google Shape;837;p62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8" name="Google Shape;838;p62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62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0" name="Google Shape;840;p62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1" name="Google Shape;841;p62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842" name="Google Shape;842;p62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3" name="Google Shape;843;p62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4" name="Google Shape;844;p62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5" name="Google Shape;845;p62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846" name="Google Shape;846;p62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847" name="Google Shape;847;p62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848" name="Google Shape;848;p62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849" name="Google Shape;849;p62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2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851" name="Google Shape;851;p62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62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853" name="Google Shape;853;p62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854" name="Google Shape;854;p62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855" name="Google Shape;855;p62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6" name="Google Shape;856;p62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62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62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62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0" name="Google Shape;860;p62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2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862" name="Google Shape;862;p62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863" name="Google Shape;863;p62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864" name="Google Shape;864;p62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865" name="Google Shape;865;p62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2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867" name="Google Shape;867;p62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 (Processing Element):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processors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SIMD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PE has: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 (Arithmetic Logic Unit):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Performs arithmetic and logical operations.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(PEM):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Holds the data assigned to that particular PE.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 work independently on different pieces of data but execute the same instruction at the same time (as directed by the CU).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873" name="Google Shape;873;p6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4" name="Google Shape;874;p63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3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63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7" name="Google Shape;877;p63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63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63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63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63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2" name="Google Shape;882;p63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3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63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5" name="Google Shape;885;p63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6" name="Google Shape;886;p63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7" name="Google Shape;887;p63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8" name="Google Shape;888;p63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9" name="Google Shape;889;p63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63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891" name="Google Shape;891;p63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2" name="Google Shape;892;p63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3" name="Google Shape;893;p63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4" name="Google Shape;894;p63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895" name="Google Shape;895;p63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896" name="Google Shape;896;p63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897" name="Google Shape;897;p63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898" name="Google Shape;898;p63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3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900" name="Google Shape;900;p63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63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902" name="Google Shape;902;p63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903" name="Google Shape;903;p63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904" name="Google Shape;904;p63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5" name="Google Shape;905;p63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63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63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63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63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63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911" name="Google Shape;911;p63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912" name="Google Shape;912;p63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913" name="Google Shape;913;p63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914" name="Google Shape;914;p63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3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916" name="Google Shape;916;p63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 (Processing Element Memory):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attached to each PE that stores the subset of data being processed.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distributed data storage for the parallel computation.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922" name="Google Shape;922;p6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3" name="Google Shape;923;p64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4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4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6" name="Google Shape;926;p64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7" name="Google Shape;927;p64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64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64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64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64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4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3" name="Google Shape;933;p64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4" name="Google Shape;934;p64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5" name="Google Shape;935;p64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6" name="Google Shape;936;p64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64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8" name="Google Shape;938;p64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9" name="Google Shape;939;p64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940" name="Google Shape;940;p64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1" name="Google Shape;941;p64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2" name="Google Shape;942;p64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3" name="Google Shape;943;p64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944" name="Google Shape;944;p64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945" name="Google Shape;945;p64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946" name="Google Shape;946;p64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947" name="Google Shape;947;p64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4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949" name="Google Shape;949;p64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64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951" name="Google Shape;951;p64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952" name="Google Shape;952;p64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953" name="Google Shape;953;p64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64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64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64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64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64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960" name="Google Shape;960;p64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961" name="Google Shape;961;p64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962" name="Google Shape;962;p64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963" name="Google Shape;963;p64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965" name="Google Shape;965;p64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 (Data Stream):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channels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PEs, often enabling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nearest-neighbor communication.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 in operations like matrix averaging, data flows horizontally or vertically between PEs to exchange neighboring values.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Models for Parallel Computers: </a:t>
            </a:r>
            <a:r>
              <a:rPr b="1" lang="en"/>
              <a:t>SIMD</a:t>
            </a:r>
            <a:endParaRPr/>
          </a:p>
        </p:txBody>
      </p:sp>
      <p:sp>
        <p:nvSpPr>
          <p:cNvPr id="971" name="Google Shape;971;p6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2" name="Google Shape;972;p65"/>
          <p:cNvSpPr/>
          <p:nvPr/>
        </p:nvSpPr>
        <p:spPr>
          <a:xfrm>
            <a:off x="2465387" y="1689800"/>
            <a:ext cx="268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5"/>
          <p:cNvSpPr/>
          <p:nvPr/>
        </p:nvSpPr>
        <p:spPr>
          <a:xfrm>
            <a:off x="4821237" y="667450"/>
            <a:ext cx="597000" cy="5970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5"/>
          <p:cNvSpPr/>
          <p:nvPr/>
        </p:nvSpPr>
        <p:spPr>
          <a:xfrm>
            <a:off x="5964237" y="743650"/>
            <a:ext cx="673200" cy="520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5" name="Google Shape;975;p65"/>
          <p:cNvCxnSpPr/>
          <p:nvPr/>
        </p:nvCxnSpPr>
        <p:spPr>
          <a:xfrm>
            <a:off x="5119687" y="1277050"/>
            <a:ext cx="0" cy="29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65"/>
          <p:cNvCxnSpPr/>
          <p:nvPr/>
        </p:nvCxnSpPr>
        <p:spPr>
          <a:xfrm>
            <a:off x="2840037" y="1575500"/>
            <a:ext cx="44832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65"/>
          <p:cNvCxnSpPr/>
          <p:nvPr/>
        </p:nvCxnSpPr>
        <p:spPr>
          <a:xfrm>
            <a:off x="2833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8" name="Google Shape;978;p65"/>
          <p:cNvCxnSpPr/>
          <p:nvPr/>
        </p:nvCxnSpPr>
        <p:spPr>
          <a:xfrm>
            <a:off x="73294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9" name="Google Shape;979;p65"/>
          <p:cNvCxnSpPr/>
          <p:nvPr/>
        </p:nvCxnSpPr>
        <p:spPr>
          <a:xfrm>
            <a:off x="4357687" y="1581850"/>
            <a:ext cx="0" cy="44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0" name="Google Shape;980;p65"/>
          <p:cNvSpPr/>
          <p:nvPr/>
        </p:nvSpPr>
        <p:spPr>
          <a:xfrm>
            <a:off x="2611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65"/>
          <p:cNvSpPr/>
          <p:nvPr/>
        </p:nvSpPr>
        <p:spPr>
          <a:xfrm>
            <a:off x="1620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2" name="Google Shape;982;p65"/>
          <p:cNvCxnSpPr/>
          <p:nvPr/>
        </p:nvCxnSpPr>
        <p:spPr>
          <a:xfrm>
            <a:off x="2154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3" name="Google Shape;983;p65"/>
          <p:cNvSpPr/>
          <p:nvPr/>
        </p:nvSpPr>
        <p:spPr>
          <a:xfrm>
            <a:off x="41354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4" name="Google Shape;984;p65"/>
          <p:cNvCxnSpPr/>
          <p:nvPr/>
        </p:nvCxnSpPr>
        <p:spPr>
          <a:xfrm>
            <a:off x="36782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5" name="Google Shape;985;p65"/>
          <p:cNvSpPr/>
          <p:nvPr/>
        </p:nvSpPr>
        <p:spPr>
          <a:xfrm>
            <a:off x="7107237" y="2039050"/>
            <a:ext cx="444600" cy="4446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6" name="Google Shape;986;p65"/>
          <p:cNvCxnSpPr/>
          <p:nvPr/>
        </p:nvCxnSpPr>
        <p:spPr>
          <a:xfrm>
            <a:off x="6650037" y="2199388"/>
            <a:ext cx="444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7" name="Google Shape;987;p65"/>
          <p:cNvCxnSpPr/>
          <p:nvPr/>
        </p:nvCxnSpPr>
        <p:spPr>
          <a:xfrm rot="10800000">
            <a:off x="5418237" y="965900"/>
            <a:ext cx="546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8" name="Google Shape;988;p65"/>
          <p:cNvSpPr/>
          <p:nvPr/>
        </p:nvSpPr>
        <p:spPr>
          <a:xfrm>
            <a:off x="4979987" y="2134300"/>
            <a:ext cx="555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</a:t>
            </a:r>
            <a:endParaRPr/>
          </a:p>
        </p:txBody>
      </p:sp>
      <p:cxnSp>
        <p:nvCxnSpPr>
          <p:cNvPr id="989" name="Google Shape;989;p65"/>
          <p:cNvCxnSpPr/>
          <p:nvPr/>
        </p:nvCxnSpPr>
        <p:spPr>
          <a:xfrm>
            <a:off x="2833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0" name="Google Shape;990;p65"/>
          <p:cNvCxnSpPr/>
          <p:nvPr/>
        </p:nvCxnSpPr>
        <p:spPr>
          <a:xfrm>
            <a:off x="73294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1" name="Google Shape;991;p65"/>
          <p:cNvCxnSpPr/>
          <p:nvPr/>
        </p:nvCxnSpPr>
        <p:spPr>
          <a:xfrm>
            <a:off x="4357687" y="2496250"/>
            <a:ext cx="0" cy="520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2" name="Google Shape;992;p65"/>
          <p:cNvSpPr/>
          <p:nvPr/>
        </p:nvSpPr>
        <p:spPr>
          <a:xfrm>
            <a:off x="4892675" y="834138"/>
            <a:ext cx="457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 sz="1200"/>
          </a:p>
        </p:txBody>
      </p:sp>
      <p:sp>
        <p:nvSpPr>
          <p:cNvPr id="993" name="Google Shape;993;p65"/>
          <p:cNvSpPr/>
          <p:nvPr/>
        </p:nvSpPr>
        <p:spPr>
          <a:xfrm>
            <a:off x="5970587" y="915100"/>
            <a:ext cx="64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sz="1100"/>
          </a:p>
        </p:txBody>
      </p:sp>
      <p:sp>
        <p:nvSpPr>
          <p:cNvPr id="994" name="Google Shape;994;p65"/>
          <p:cNvSpPr/>
          <p:nvPr/>
        </p:nvSpPr>
        <p:spPr>
          <a:xfrm>
            <a:off x="2617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995" name="Google Shape;995;p65"/>
          <p:cNvSpPr/>
          <p:nvPr/>
        </p:nvSpPr>
        <p:spPr>
          <a:xfrm>
            <a:off x="15748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996" name="Google Shape;996;p65"/>
          <p:cNvSpPr/>
          <p:nvPr/>
        </p:nvSpPr>
        <p:spPr>
          <a:xfrm>
            <a:off x="61166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65"/>
          <p:cNvSpPr/>
          <p:nvPr/>
        </p:nvSpPr>
        <p:spPr>
          <a:xfrm>
            <a:off x="6057900" y="2169225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100"/>
          </a:p>
        </p:txBody>
      </p:sp>
      <p:sp>
        <p:nvSpPr>
          <p:cNvPr id="998" name="Google Shape;998;p65"/>
          <p:cNvSpPr/>
          <p:nvPr/>
        </p:nvSpPr>
        <p:spPr>
          <a:xfrm>
            <a:off x="3144837" y="2115250"/>
            <a:ext cx="520800" cy="368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5"/>
          <p:cNvSpPr/>
          <p:nvPr/>
        </p:nvSpPr>
        <p:spPr>
          <a:xfrm>
            <a:off x="3086100" y="2158113"/>
            <a:ext cx="622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</a:t>
            </a:r>
            <a:endParaRPr sz="1200"/>
          </a:p>
        </p:txBody>
      </p:sp>
      <p:sp>
        <p:nvSpPr>
          <p:cNvPr id="1000" name="Google Shape;1000;p65"/>
          <p:cNvSpPr/>
          <p:nvPr/>
        </p:nvSpPr>
        <p:spPr>
          <a:xfrm>
            <a:off x="41417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100"/>
          </a:p>
        </p:txBody>
      </p:sp>
      <p:sp>
        <p:nvSpPr>
          <p:cNvPr id="1001" name="Google Shape;1001;p65"/>
          <p:cNvSpPr/>
          <p:nvPr/>
        </p:nvSpPr>
        <p:spPr>
          <a:xfrm>
            <a:off x="7113587" y="2134300"/>
            <a:ext cx="43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 sz="1200"/>
          </a:p>
        </p:txBody>
      </p:sp>
      <p:sp>
        <p:nvSpPr>
          <p:cNvPr id="1002" name="Google Shape;1002;p65"/>
          <p:cNvSpPr/>
          <p:nvPr/>
        </p:nvSpPr>
        <p:spPr>
          <a:xfrm>
            <a:off x="4598987" y="1677100"/>
            <a:ext cx="2133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3" name="Google Shape;1003;p65"/>
          <p:cNvCxnSpPr/>
          <p:nvPr/>
        </p:nvCxnSpPr>
        <p:spPr>
          <a:xfrm>
            <a:off x="1843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65"/>
          <p:cNvCxnSpPr/>
          <p:nvPr/>
        </p:nvCxnSpPr>
        <p:spPr>
          <a:xfrm>
            <a:off x="1011237" y="2718500"/>
            <a:ext cx="5397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65"/>
          <p:cNvCxnSpPr/>
          <p:nvPr/>
        </p:nvCxnSpPr>
        <p:spPr>
          <a:xfrm>
            <a:off x="34432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65"/>
          <p:cNvCxnSpPr/>
          <p:nvPr/>
        </p:nvCxnSpPr>
        <p:spPr>
          <a:xfrm>
            <a:off x="6415087" y="2496250"/>
            <a:ext cx="0" cy="216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65"/>
          <p:cNvSpPr/>
          <p:nvPr/>
        </p:nvSpPr>
        <p:spPr>
          <a:xfrm>
            <a:off x="1169987" y="3201100"/>
            <a:ext cx="7548600" cy="1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5"/>
          <p:cNvSpPr/>
          <p:nvPr/>
        </p:nvSpPr>
        <p:spPr>
          <a:xfrm>
            <a:off x="5461000" y="603950"/>
            <a:ext cx="468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/>
          </a:p>
        </p:txBody>
      </p:sp>
      <p:sp>
        <p:nvSpPr>
          <p:cNvPr id="1009" name="Google Shape;1009;p65"/>
          <p:cNvSpPr/>
          <p:nvPr/>
        </p:nvSpPr>
        <p:spPr>
          <a:xfrm>
            <a:off x="2105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1010" name="Google Shape;1010;p65"/>
          <p:cNvSpPr/>
          <p:nvPr/>
        </p:nvSpPr>
        <p:spPr>
          <a:xfrm>
            <a:off x="36290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000"/>
          </a:p>
        </p:txBody>
      </p:sp>
      <p:sp>
        <p:nvSpPr>
          <p:cNvPr id="1011" name="Google Shape;1011;p65"/>
          <p:cNvSpPr/>
          <p:nvPr/>
        </p:nvSpPr>
        <p:spPr>
          <a:xfrm>
            <a:off x="6600825" y="1773938"/>
            <a:ext cx="604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800"/>
          </a:p>
        </p:txBody>
      </p:sp>
      <p:sp>
        <p:nvSpPr>
          <p:cNvPr id="1012" name="Google Shape;1012;p65"/>
          <p:cNvSpPr/>
          <p:nvPr/>
        </p:nvSpPr>
        <p:spPr>
          <a:xfrm>
            <a:off x="5410200" y="1180213"/>
            <a:ext cx="6507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5"/>
          <p:cNvSpPr/>
          <p:nvPr/>
        </p:nvSpPr>
        <p:spPr>
          <a:xfrm>
            <a:off x="457200" y="2704213"/>
            <a:ext cx="2260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</a:t>
            </a:r>
            <a:endParaRPr sz="700"/>
          </a:p>
        </p:txBody>
      </p:sp>
      <p:sp>
        <p:nvSpPr>
          <p:cNvPr id="1014" name="Google Shape;1014;p65"/>
          <p:cNvSpPr txBox="1"/>
          <p:nvPr>
            <p:ph idx="1" type="body"/>
          </p:nvPr>
        </p:nvSpPr>
        <p:spPr>
          <a:xfrm>
            <a:off x="205200" y="3288250"/>
            <a:ext cx="88668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F.E. and I/O: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Represents the interface for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front-end control and input/output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operations, which handle data input and results output for the SIMD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operates</a:t>
            </a:r>
            <a:endParaRPr/>
          </a:p>
        </p:txBody>
      </p:sp>
      <p:sp>
        <p:nvSpPr>
          <p:cNvPr id="1020" name="Google Shape;1020;p66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Fetch and Broadcast: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unit (CU)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fetches instructions from its memory (CUM) and broadcasts them as microinstructions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µIS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all PEs.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Data Processing: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processing element (PE)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performs the same operation on its local data (stored in PEM).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If the operation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each PE adds its local value to a neighbor's value.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Communication Between PEs: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can flow between PEs through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stream (DS)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connections, enabling operations like matrix shifts, averaging, or stencil computations.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PEs operate in lockstep, meaning they execute the same instruction simultaneously, ensuring efficient parallelism.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2" name="Google Shape;102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325" y="888800"/>
            <a:ext cx="4654554" cy="16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operates</a:t>
            </a:r>
            <a:endParaRPr/>
          </a:p>
        </p:txBody>
      </p:sp>
      <p:sp>
        <p:nvSpPr>
          <p:cNvPr id="1028" name="Google Shape;1028;p67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Usage: Matrix Averaging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compute the average of a matrix element with its four neighbors: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PE is assigned one element of the matrix, stored in its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 (local memory)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control unit broadcasts an instruction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across neighbors using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 (data stream)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connections (e.g., shift left, right, up, down).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PE accumulates the values of its neighbors and computes the average locally.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process is repeated for all matrix elements in parallel.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0" name="Google Shape;103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325" y="888800"/>
            <a:ext cx="4654554" cy="16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8"/>
          <p:cNvSpPr txBox="1"/>
          <p:nvPr>
            <p:ph idx="1" type="body"/>
          </p:nvPr>
        </p:nvSpPr>
        <p:spPr>
          <a:xfrm>
            <a:off x="1853050" y="1965300"/>
            <a:ext cx="5550600" cy="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600"/>
              <a:t>MIMD</a:t>
            </a:r>
            <a:endParaRPr b="1" sz="2600"/>
          </a:p>
        </p:txBody>
      </p:sp>
      <p:sp>
        <p:nvSpPr>
          <p:cNvPr id="1036" name="Google Shape;1036;p6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b="1" sz="2700"/>
          </a:p>
        </p:txBody>
      </p:sp>
      <p:sp>
        <p:nvSpPr>
          <p:cNvPr id="1042" name="Google Shape;1042;p6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Control/Functional Parallelism: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Emphasizes parallel execution of independent instructions across multiple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Asynchronous Operation: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execute independently and do not require global synchronization.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Typically handled in software (e.g., via operating system or application-level tools).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emulate SIMD behavior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SPMD (Single Program, Multiple Data)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application-level synchronization.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 and Supercomputers: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BlueGene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SGI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Altix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Cray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XC50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Sunway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TaihuLight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Fugaku.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Distributed Systems: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computing platforms, large-scale HPC clusters, and GPU-accelerated distributed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b="1" sz="2700"/>
          </a:p>
        </p:txBody>
      </p:sp>
      <p:sp>
        <p:nvSpPr>
          <p:cNvPr id="1049" name="Google Shape;1049;p7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0" name="Google Shape;1050;p70"/>
          <p:cNvSpPr/>
          <p:nvPr/>
        </p:nvSpPr>
        <p:spPr>
          <a:xfrm>
            <a:off x="6562075" y="1970088"/>
            <a:ext cx="1289100" cy="1816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6695425" y="2613025"/>
            <a:ext cx="1003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</a:t>
            </a:r>
            <a:endParaRPr sz="1300"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300"/>
          </a:p>
        </p:txBody>
      </p:sp>
      <p:sp>
        <p:nvSpPr>
          <p:cNvPr id="1052" name="Google Shape;1052;p70"/>
          <p:cNvSpPr/>
          <p:nvPr/>
        </p:nvSpPr>
        <p:spPr>
          <a:xfrm>
            <a:off x="4123675" y="1817688"/>
            <a:ext cx="1816200" cy="2121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70"/>
          <p:cNvSpPr/>
          <p:nvPr/>
        </p:nvSpPr>
        <p:spPr>
          <a:xfrm>
            <a:off x="4115738" y="2620963"/>
            <a:ext cx="185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70"/>
          <p:cNvCxnSpPr/>
          <p:nvPr/>
        </p:nvCxnSpPr>
        <p:spPr>
          <a:xfrm>
            <a:off x="5952475" y="2801938"/>
            <a:ext cx="5970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5" name="Google Shape;1055;p70"/>
          <p:cNvCxnSpPr/>
          <p:nvPr/>
        </p:nvCxnSpPr>
        <p:spPr>
          <a:xfrm flipH="1" rot="10800000">
            <a:off x="2944481" y="2040004"/>
            <a:ext cx="1166400" cy="8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6" name="Google Shape;1056;p70"/>
          <p:cNvSpPr/>
          <p:nvPr/>
        </p:nvSpPr>
        <p:spPr>
          <a:xfrm>
            <a:off x="1761582" y="1444625"/>
            <a:ext cx="136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  <p:sp>
        <p:nvSpPr>
          <p:cNvPr id="1057" name="Google Shape;1057;p70"/>
          <p:cNvSpPr/>
          <p:nvPr/>
        </p:nvSpPr>
        <p:spPr>
          <a:xfrm>
            <a:off x="2669525" y="3282348"/>
            <a:ext cx="4572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58" name="Google Shape;1058;p70"/>
          <p:cNvSpPr/>
          <p:nvPr/>
        </p:nvSpPr>
        <p:spPr>
          <a:xfrm>
            <a:off x="3571225" y="2351088"/>
            <a:ext cx="368400" cy="29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1542400" y="3436938"/>
            <a:ext cx="4572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0" name="Google Shape;1060;p70"/>
          <p:cNvCxnSpPr/>
          <p:nvPr/>
        </p:nvCxnSpPr>
        <p:spPr>
          <a:xfrm>
            <a:off x="2980674" y="2978943"/>
            <a:ext cx="1136700" cy="4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1" name="Google Shape;1061;p70"/>
          <p:cNvSpPr/>
          <p:nvPr/>
        </p:nvSpPr>
        <p:spPr>
          <a:xfrm>
            <a:off x="612125" y="1414463"/>
            <a:ext cx="1081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70"/>
          <p:cNvSpPr/>
          <p:nvPr/>
        </p:nvSpPr>
        <p:spPr>
          <a:xfrm>
            <a:off x="4001438" y="1189038"/>
            <a:ext cx="26052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or Distributed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endParaRPr/>
          </a:p>
        </p:txBody>
      </p:sp>
      <p:sp>
        <p:nvSpPr>
          <p:cNvPr id="1063" name="Google Shape;1063;p70"/>
          <p:cNvSpPr/>
          <p:nvPr/>
        </p:nvSpPr>
        <p:spPr>
          <a:xfrm>
            <a:off x="3499787" y="2308225"/>
            <a:ext cx="503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</a:t>
            </a:r>
            <a:endParaRPr/>
          </a:p>
        </p:txBody>
      </p:sp>
      <p:sp>
        <p:nvSpPr>
          <p:cNvPr id="1064" name="Google Shape;1064;p70"/>
          <p:cNvSpPr/>
          <p:nvPr/>
        </p:nvSpPr>
        <p:spPr>
          <a:xfrm>
            <a:off x="3431525" y="1660525"/>
            <a:ext cx="609600" cy="22098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p70"/>
          <p:cNvCxnSpPr/>
          <p:nvPr/>
        </p:nvCxnSpPr>
        <p:spPr>
          <a:xfrm rot="5400000">
            <a:off x="3698225" y="1558925"/>
            <a:ext cx="381000" cy="152400"/>
          </a:xfrm>
          <a:prstGeom prst="curvedConnector3">
            <a:avLst>
              <a:gd fmla="val 50000" name="adj1"/>
            </a:avLst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66" name="Google Shape;1066;p70"/>
          <p:cNvCxnSpPr/>
          <p:nvPr/>
        </p:nvCxnSpPr>
        <p:spPr>
          <a:xfrm>
            <a:off x="2139407" y="2039938"/>
            <a:ext cx="442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7" name="Google Shape;1067;p70"/>
          <p:cNvSpPr/>
          <p:nvPr/>
        </p:nvSpPr>
        <p:spPr>
          <a:xfrm>
            <a:off x="1758407" y="1893888"/>
            <a:ext cx="366600" cy="29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70"/>
          <p:cNvSpPr/>
          <p:nvPr/>
        </p:nvSpPr>
        <p:spPr>
          <a:xfrm>
            <a:off x="2596607" y="1893888"/>
            <a:ext cx="290700" cy="2922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0"/>
          <p:cNvSpPr/>
          <p:nvPr/>
        </p:nvSpPr>
        <p:spPr>
          <a:xfrm>
            <a:off x="1682207" y="1817688"/>
            <a:ext cx="1276800" cy="4446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0"/>
          <p:cNvSpPr/>
          <p:nvPr/>
        </p:nvSpPr>
        <p:spPr>
          <a:xfrm>
            <a:off x="2118770" y="1978025"/>
            <a:ext cx="571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0"/>
          <p:cNvSpPr/>
          <p:nvPr/>
        </p:nvSpPr>
        <p:spPr>
          <a:xfrm>
            <a:off x="1701257" y="1851025"/>
            <a:ext cx="513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/>
          </a:p>
        </p:txBody>
      </p:sp>
      <p:sp>
        <p:nvSpPr>
          <p:cNvPr id="1072" name="Google Shape;1072;p70"/>
          <p:cNvSpPr/>
          <p:nvPr/>
        </p:nvSpPr>
        <p:spPr>
          <a:xfrm>
            <a:off x="2539458" y="1876425"/>
            <a:ext cx="42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/>
          </a:p>
        </p:txBody>
      </p:sp>
      <p:sp>
        <p:nvSpPr>
          <p:cNvPr id="1073" name="Google Shape;1073;p70"/>
          <p:cNvSpPr/>
          <p:nvPr/>
        </p:nvSpPr>
        <p:spPr>
          <a:xfrm>
            <a:off x="1761582" y="2389187"/>
            <a:ext cx="136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  <p:sp>
        <p:nvSpPr>
          <p:cNvPr id="1074" name="Google Shape;1074;p70"/>
          <p:cNvSpPr/>
          <p:nvPr/>
        </p:nvSpPr>
        <p:spPr>
          <a:xfrm>
            <a:off x="612125" y="2359025"/>
            <a:ext cx="1081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p70"/>
          <p:cNvCxnSpPr/>
          <p:nvPr/>
        </p:nvCxnSpPr>
        <p:spPr>
          <a:xfrm>
            <a:off x="2139407" y="2984500"/>
            <a:ext cx="442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6" name="Google Shape;1076;p70"/>
          <p:cNvSpPr/>
          <p:nvPr/>
        </p:nvSpPr>
        <p:spPr>
          <a:xfrm>
            <a:off x="1758407" y="2838450"/>
            <a:ext cx="366600" cy="29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70"/>
          <p:cNvSpPr/>
          <p:nvPr/>
        </p:nvSpPr>
        <p:spPr>
          <a:xfrm>
            <a:off x="2596607" y="2838450"/>
            <a:ext cx="290700" cy="292200"/>
          </a:xfrm>
          <a:prstGeom prst="ellipse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70"/>
          <p:cNvSpPr/>
          <p:nvPr/>
        </p:nvSpPr>
        <p:spPr>
          <a:xfrm>
            <a:off x="1682207" y="2762250"/>
            <a:ext cx="1276800" cy="4446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70"/>
          <p:cNvSpPr/>
          <p:nvPr/>
        </p:nvSpPr>
        <p:spPr>
          <a:xfrm>
            <a:off x="2118770" y="2922587"/>
            <a:ext cx="6144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70"/>
          <p:cNvSpPr/>
          <p:nvPr/>
        </p:nvSpPr>
        <p:spPr>
          <a:xfrm>
            <a:off x="1701257" y="2795587"/>
            <a:ext cx="513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endParaRPr/>
          </a:p>
        </p:txBody>
      </p:sp>
      <p:sp>
        <p:nvSpPr>
          <p:cNvPr id="1081" name="Google Shape;1081;p70"/>
          <p:cNvSpPr/>
          <p:nvPr/>
        </p:nvSpPr>
        <p:spPr>
          <a:xfrm>
            <a:off x="2539458" y="2820987"/>
            <a:ext cx="42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endParaRPr/>
          </a:p>
        </p:txBody>
      </p:sp>
      <p:cxnSp>
        <p:nvCxnSpPr>
          <p:cNvPr id="1082" name="Google Shape;1082;p70"/>
          <p:cNvCxnSpPr>
            <a:endCxn id="1058" idx="0"/>
          </p:cNvCxnSpPr>
          <p:nvPr/>
        </p:nvCxnSpPr>
        <p:spPr>
          <a:xfrm>
            <a:off x="3736225" y="2039988"/>
            <a:ext cx="19200" cy="311100"/>
          </a:xfrm>
          <a:prstGeom prst="straightConnector1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3" name="Google Shape;1083;p70"/>
          <p:cNvCxnSpPr/>
          <p:nvPr/>
        </p:nvCxnSpPr>
        <p:spPr>
          <a:xfrm>
            <a:off x="3736325" y="2968625"/>
            <a:ext cx="19200" cy="311100"/>
          </a:xfrm>
          <a:prstGeom prst="straightConnector1">
            <a:avLst/>
          </a:prstGeom>
          <a:solidFill>
            <a:srgbClr val="EBEBEB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4" name="Google Shape;1084;p70"/>
          <p:cNvSpPr/>
          <p:nvPr/>
        </p:nvSpPr>
        <p:spPr>
          <a:xfrm>
            <a:off x="3579163" y="3330575"/>
            <a:ext cx="368400" cy="2922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70"/>
          <p:cNvSpPr/>
          <p:nvPr/>
        </p:nvSpPr>
        <p:spPr>
          <a:xfrm>
            <a:off x="3507725" y="3287712"/>
            <a:ext cx="503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</a:t>
            </a:r>
            <a:endParaRPr/>
          </a:p>
        </p:txBody>
      </p:sp>
      <p:sp>
        <p:nvSpPr>
          <p:cNvPr id="1086" name="Google Shape;1086;p70"/>
          <p:cNvSpPr txBox="1"/>
          <p:nvPr/>
        </p:nvSpPr>
        <p:spPr>
          <a:xfrm>
            <a:off x="2999154" y="1655245"/>
            <a:ext cx="8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IS,DS</a:t>
            </a:r>
            <a:endParaRPr/>
          </a:p>
        </p:txBody>
      </p:sp>
      <p:sp>
        <p:nvSpPr>
          <p:cNvPr id="1087" name="Google Shape;1087;p70"/>
          <p:cNvSpPr txBox="1"/>
          <p:nvPr/>
        </p:nvSpPr>
        <p:spPr>
          <a:xfrm>
            <a:off x="2974325" y="2630071"/>
            <a:ext cx="82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IS,DS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sz="2700"/>
          </a:p>
        </p:txBody>
      </p:sp>
      <p:sp>
        <p:nvSpPr>
          <p:cNvPr id="1093" name="Google Shape;1093;p71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 Units: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contains: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 (Control Unit):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for instruction sequencing and managing data flow within the processor.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 (Processing Element):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 instructions and performs computations based on microinstructions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µIS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issued by the CU.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Each processor operates independently on its assigned tasks but may share data through the shared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7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5" name="Google Shape;109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50" y="736400"/>
            <a:ext cx="3951249" cy="2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sz="2700"/>
          </a:p>
        </p:txBody>
      </p:sp>
      <p:sp>
        <p:nvSpPr>
          <p:cNvPr id="1101" name="Google Shape;1101;p72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(LM):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is connected to its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private to the processor.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frequently accessed data for faster processing.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contention for shared memory by holding temporary or local data.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7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3" name="Google Shape;110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50" y="736400"/>
            <a:ext cx="3951249" cy="2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7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sz="2700"/>
          </a:p>
        </p:txBody>
      </p:sp>
      <p:sp>
        <p:nvSpPr>
          <p:cNvPr id="1109" name="Google Shape;1109;p73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accessible by all processors through the interconnection network.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Facilitates communication and data sharing between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Used for tasks like collaborative computation, where intermediate results are shared among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1" name="Google Shape;111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50" y="736400"/>
            <a:ext cx="3951249" cy="2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7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Models for Parallel Computers: </a:t>
            </a:r>
            <a:r>
              <a:rPr b="1" lang="en" sz="2700"/>
              <a:t>MIMD</a:t>
            </a:r>
            <a:endParaRPr sz="2700"/>
          </a:p>
        </p:txBody>
      </p:sp>
      <p:sp>
        <p:nvSpPr>
          <p:cNvPr id="1117" name="Google Shape;1117;p74"/>
          <p:cNvSpPr txBox="1"/>
          <p:nvPr>
            <p:ph idx="1" type="body"/>
          </p:nvPr>
        </p:nvSpPr>
        <p:spPr>
          <a:xfrm>
            <a:off x="205200" y="2563100"/>
            <a:ext cx="8866800" cy="23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Interconnection Network: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the bridge between processors (with their local memories) and the shared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Networks: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Bus-based: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Simple, but prone to bottlenecks.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Switch-based (Crossbar or Mesh):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Scalable and allows simultaneous data transfers.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Handles communication between processors and shared memory, enabling data sharing or synchronization.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7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9" name="Google Shape;111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450" y="736400"/>
            <a:ext cx="3951249" cy="2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How it works</a:t>
            </a:r>
            <a:endParaRPr sz="2700"/>
          </a:p>
        </p:txBody>
      </p:sp>
      <p:sp>
        <p:nvSpPr>
          <p:cNvPr id="1125" name="Google Shape;1125;p75"/>
          <p:cNvSpPr txBox="1"/>
          <p:nvPr>
            <p:ph idx="1" type="body"/>
          </p:nvPr>
        </p:nvSpPr>
        <p:spPr>
          <a:xfrm>
            <a:off x="205200" y="961150"/>
            <a:ext cx="8866800" cy="3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Access: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work on data stored in their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(LM)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fast,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independent operation.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 processor needs shared data, it accesses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the interconnection network.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 is used for communication and synchronization 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between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 one processor writes results to shared memory, and another processor reads those results to continue computation.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processors may need to synchronize to avoid conflicts or inconsistencies when accessing shared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Locks, barriers, or semaphores are used to coordinate access.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7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7" name="Google Shape;112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900" y="736400"/>
            <a:ext cx="3951249" cy="20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Advantages and Challenges</a:t>
            </a:r>
            <a:endParaRPr sz="2700"/>
          </a:p>
        </p:txBody>
      </p:sp>
      <p:sp>
        <p:nvSpPr>
          <p:cNvPr id="1133" name="Google Shape;1133;p76"/>
          <p:cNvSpPr txBox="1"/>
          <p:nvPr>
            <p:ph idx="1" type="body"/>
          </p:nvPr>
        </p:nvSpPr>
        <p:spPr>
          <a:xfrm>
            <a:off x="205200" y="640775"/>
            <a:ext cx="8866800" cy="43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Ease of Programming: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memory provides a global address space, making it easier for programmers to manage data sharing.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Local Access: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can use local memory for frequently accessed data, reducing contention for shared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an appropriate interconnection network (e.g., crossbar or mesh), the architecture can scale to a large number of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Contention: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may compete for access to shared memory, causing delays.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 Overhead: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Ensuring consistency and preventing data races can add complexity and reduce performance.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Interconnection Network Bottlenecks: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efficiency of the network affects overall system performance.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7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Taxonomy of MIMD</a:t>
            </a:r>
            <a:endParaRPr/>
          </a:p>
        </p:txBody>
      </p:sp>
      <p:sp>
        <p:nvSpPr>
          <p:cNvPr id="1140" name="Google Shape;1140;p7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1" name="Google Shape;1141;p77"/>
          <p:cNvSpPr/>
          <p:nvPr/>
        </p:nvSpPr>
        <p:spPr>
          <a:xfrm>
            <a:off x="4099367" y="489509"/>
            <a:ext cx="754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MIMD</a:t>
            </a:r>
            <a:endParaRPr sz="600"/>
          </a:p>
        </p:txBody>
      </p:sp>
      <p:sp>
        <p:nvSpPr>
          <p:cNvPr id="1142" name="Google Shape;1142;p77"/>
          <p:cNvSpPr/>
          <p:nvPr/>
        </p:nvSpPr>
        <p:spPr>
          <a:xfrm>
            <a:off x="869575" y="1356661"/>
            <a:ext cx="2639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Multiprocessors (MPs)</a:t>
            </a:r>
            <a:endParaRPr/>
          </a:p>
        </p:txBody>
      </p:sp>
      <p:sp>
        <p:nvSpPr>
          <p:cNvPr id="1143" name="Google Shape;1143;p77"/>
          <p:cNvSpPr/>
          <p:nvPr/>
        </p:nvSpPr>
        <p:spPr>
          <a:xfrm rot="-899973">
            <a:off x="1601207" y="944959"/>
            <a:ext cx="2648645" cy="2664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Shared Address Spaces</a:t>
            </a:r>
            <a:endParaRPr b="1" sz="1000"/>
          </a:p>
        </p:txBody>
      </p:sp>
      <p:sp>
        <p:nvSpPr>
          <p:cNvPr id="1144" name="Google Shape;1144;p77"/>
          <p:cNvSpPr/>
          <p:nvPr/>
        </p:nvSpPr>
        <p:spPr>
          <a:xfrm rot="986165">
            <a:off x="4549535" y="906743"/>
            <a:ext cx="2583888" cy="26646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00"/>
                </a:solidFill>
              </a:rPr>
              <a:t>Multiple Address Space</a:t>
            </a:r>
            <a:endParaRPr b="1" sz="900"/>
          </a:p>
        </p:txBody>
      </p:sp>
      <p:sp>
        <p:nvSpPr>
          <p:cNvPr id="1145" name="Google Shape;1145;p77"/>
          <p:cNvSpPr/>
          <p:nvPr/>
        </p:nvSpPr>
        <p:spPr>
          <a:xfrm>
            <a:off x="246219" y="2142624"/>
            <a:ext cx="2452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Memory MPs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(Non-Scaleable)</a:t>
            </a:r>
            <a:endParaRPr/>
          </a:p>
        </p:txBody>
      </p:sp>
      <p:sp>
        <p:nvSpPr>
          <p:cNvPr id="1146" name="Google Shape;1146;p77"/>
          <p:cNvSpPr/>
          <p:nvPr/>
        </p:nvSpPr>
        <p:spPr>
          <a:xfrm>
            <a:off x="3050867" y="2098344"/>
            <a:ext cx="1917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MPs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(Scaleable)</a:t>
            </a:r>
            <a:endParaRPr sz="300"/>
          </a:p>
        </p:txBody>
      </p:sp>
      <p:sp>
        <p:nvSpPr>
          <p:cNvPr id="1147" name="Google Shape;1147;p77"/>
          <p:cNvSpPr/>
          <p:nvPr/>
        </p:nvSpPr>
        <p:spPr>
          <a:xfrm>
            <a:off x="318525" y="2978728"/>
            <a:ext cx="2307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UMA/SMP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SGI Power Ch.)</a:t>
            </a:r>
            <a:endParaRPr sz="1200"/>
          </a:p>
        </p:txBody>
      </p:sp>
      <p:sp>
        <p:nvSpPr>
          <p:cNvPr id="1148" name="Google Shape;1148;p77"/>
          <p:cNvSpPr/>
          <p:nvPr/>
        </p:nvSpPr>
        <p:spPr>
          <a:xfrm>
            <a:off x="2443493" y="2978778"/>
            <a:ext cx="1708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NUMA/DSM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SGI Altix,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/>
              <a:t>AMD EPYC</a:t>
            </a:r>
            <a:r>
              <a:rPr lang="en" sz="1100"/>
              <a:t> and </a:t>
            </a:r>
            <a:r>
              <a:rPr b="1" lang="en" sz="1100"/>
              <a:t>Intel Xeon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200"/>
          </a:p>
        </p:txBody>
      </p:sp>
      <p:sp>
        <p:nvSpPr>
          <p:cNvPr id="1149" name="Google Shape;1149;p77"/>
          <p:cNvSpPr/>
          <p:nvPr/>
        </p:nvSpPr>
        <p:spPr>
          <a:xfrm>
            <a:off x="4147496" y="2978778"/>
            <a:ext cx="14577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 KSR)</a:t>
            </a:r>
            <a:endParaRPr sz="1200"/>
          </a:p>
        </p:txBody>
      </p:sp>
      <p:sp>
        <p:nvSpPr>
          <p:cNvPr id="1150" name="Google Shape;1150;p77"/>
          <p:cNvSpPr/>
          <p:nvPr/>
        </p:nvSpPr>
        <p:spPr>
          <a:xfrm>
            <a:off x="83700" y="4651215"/>
            <a:ext cx="5531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a NUMA could be either cache-coherent or not</a:t>
            </a:r>
            <a:endParaRPr sz="500"/>
          </a:p>
        </p:txBody>
      </p:sp>
      <p:sp>
        <p:nvSpPr>
          <p:cNvPr id="1151" name="Google Shape;1151;p77"/>
          <p:cNvSpPr/>
          <p:nvPr/>
        </p:nvSpPr>
        <p:spPr>
          <a:xfrm>
            <a:off x="5183747" y="1343997"/>
            <a:ext cx="2971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Multicomputers (NORMA)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(Scaleable) (MPPs, cluster)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/>
              <a:t>IBM BLUE Gene, Fugaku</a:t>
            </a:r>
            <a:endParaRPr b="1"/>
          </a:p>
        </p:txBody>
      </p:sp>
      <p:cxnSp>
        <p:nvCxnSpPr>
          <p:cNvPr id="1152" name="Google Shape;1152;p77"/>
          <p:cNvCxnSpPr>
            <a:stCxn id="1141" idx="2"/>
            <a:endCxn id="1142" idx="0"/>
          </p:cNvCxnSpPr>
          <p:nvPr/>
        </p:nvCxnSpPr>
        <p:spPr>
          <a:xfrm flipH="1">
            <a:off x="2189267" y="753209"/>
            <a:ext cx="2287500" cy="6036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77"/>
          <p:cNvCxnSpPr>
            <a:stCxn id="1141" idx="2"/>
            <a:endCxn id="1151" idx="0"/>
          </p:cNvCxnSpPr>
          <p:nvPr/>
        </p:nvCxnSpPr>
        <p:spPr>
          <a:xfrm>
            <a:off x="4476767" y="753209"/>
            <a:ext cx="2193000" cy="5907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77"/>
          <p:cNvCxnSpPr>
            <a:stCxn id="1145" idx="0"/>
            <a:endCxn id="1142" idx="2"/>
          </p:cNvCxnSpPr>
          <p:nvPr/>
        </p:nvCxnSpPr>
        <p:spPr>
          <a:xfrm flipH="1" rot="10800000">
            <a:off x="1472319" y="1623024"/>
            <a:ext cx="716700" cy="5196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77"/>
          <p:cNvCxnSpPr>
            <a:stCxn id="1146" idx="0"/>
            <a:endCxn id="1142" idx="2"/>
          </p:cNvCxnSpPr>
          <p:nvPr/>
        </p:nvCxnSpPr>
        <p:spPr>
          <a:xfrm rot="10800000">
            <a:off x="2189267" y="1623144"/>
            <a:ext cx="1820100" cy="4752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77"/>
          <p:cNvCxnSpPr>
            <a:stCxn id="1147" idx="0"/>
            <a:endCxn id="1145" idx="2"/>
          </p:cNvCxnSpPr>
          <p:nvPr/>
        </p:nvCxnSpPr>
        <p:spPr>
          <a:xfrm rot="10800000">
            <a:off x="1472325" y="2624128"/>
            <a:ext cx="0" cy="3546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77"/>
          <p:cNvCxnSpPr>
            <a:stCxn id="1148" idx="0"/>
            <a:endCxn id="1146" idx="2"/>
          </p:cNvCxnSpPr>
          <p:nvPr/>
        </p:nvCxnSpPr>
        <p:spPr>
          <a:xfrm flipH="1" rot="10800000">
            <a:off x="3297593" y="2579778"/>
            <a:ext cx="711900" cy="3990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77"/>
          <p:cNvCxnSpPr>
            <a:stCxn id="1149" idx="0"/>
            <a:endCxn id="1146" idx="2"/>
          </p:cNvCxnSpPr>
          <p:nvPr/>
        </p:nvCxnSpPr>
        <p:spPr>
          <a:xfrm rot="10800000">
            <a:off x="4009346" y="2579778"/>
            <a:ext cx="867000" cy="3990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9" name="Google Shape;1159;p7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/>
              <a:t>Comparison of Architectures</a:t>
            </a:r>
            <a:endParaRPr b="1" sz="1300"/>
          </a:p>
        </p:txBody>
      </p:sp>
      <p:sp>
        <p:nvSpPr>
          <p:cNvPr id="1160" name="Google Shape;1160;p77"/>
          <p:cNvSpPr txBox="1"/>
          <p:nvPr/>
        </p:nvSpPr>
        <p:spPr>
          <a:xfrm>
            <a:off x="6029275" y="3242475"/>
            <a:ext cx="3000000" cy="132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NUMA:</a:t>
            </a:r>
            <a:r>
              <a:rPr lang="en" sz="1100"/>
              <a:t> Non-Uniform Memory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NORMA:</a:t>
            </a:r>
            <a:r>
              <a:rPr lang="en" sz="1100"/>
              <a:t> No Remote Memory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UMA:</a:t>
            </a:r>
            <a:r>
              <a:rPr lang="en" sz="1100"/>
              <a:t> Uniform Memory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COMA:</a:t>
            </a:r>
            <a:r>
              <a:rPr lang="en" sz="1100"/>
              <a:t> Cache-Only Memory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SMP:</a:t>
            </a:r>
            <a:r>
              <a:rPr lang="en" sz="1100"/>
              <a:t> Symmetric Multiprocessing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DSM:</a:t>
            </a:r>
            <a:r>
              <a:rPr lang="en" sz="1100"/>
              <a:t> Distributed Shared Memory</a:t>
            </a:r>
            <a:endParaRPr sz="1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Memory Access (UMA) MP Model</a:t>
            </a:r>
            <a:endParaRPr/>
          </a:p>
        </p:txBody>
      </p:sp>
      <p:sp>
        <p:nvSpPr>
          <p:cNvPr id="1166" name="Google Shape;1166;p78"/>
          <p:cNvSpPr txBox="1"/>
          <p:nvPr>
            <p:ph idx="1" type="body"/>
          </p:nvPr>
        </p:nvSpPr>
        <p:spPr>
          <a:xfrm>
            <a:off x="194425" y="535650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access time is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all processors, regardless of which memory module is being accessed.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Symmetric Multiprocessing (SMP):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processors have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access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Peripherals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I/O devices).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Operating System Kernel.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can execute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tasks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work on the same task collaboratively.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7" name="Google Shape;11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475" y="2740952"/>
            <a:ext cx="5388800" cy="212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Non-Uniform Memory Access (NUMA)</a:t>
            </a:r>
            <a:endParaRPr/>
          </a:p>
        </p:txBody>
      </p:sp>
      <p:sp>
        <p:nvSpPr>
          <p:cNvPr id="1173" name="Google Shape;1173;p7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Address Space: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(LM) and global shared memory (GSM) are mapped into a single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address space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by all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Time Hierarchy: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Fastest: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memory (LM)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memory within the same cluster.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shared memory (GSM).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Slowest: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in an external cluster.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Time Variance: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access time depends on the location of the memory relative to the processor.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to minimize latency by prioritizing access to nearby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7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5" name="Google Shape;11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733" y="2950726"/>
            <a:ext cx="4450267" cy="213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NUMA</a:t>
            </a:r>
            <a:endParaRPr/>
          </a:p>
        </p:txBody>
      </p:sp>
      <p:sp>
        <p:nvSpPr>
          <p:cNvPr id="1181" name="Google Shape;1181;p80"/>
          <p:cNvSpPr txBox="1"/>
          <p:nvPr>
            <p:ph idx="1" type="body"/>
          </p:nvPr>
        </p:nvSpPr>
        <p:spPr>
          <a:xfrm>
            <a:off x="205200" y="519225"/>
            <a:ext cx="5406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memory architecture that organizes memory in a multi-level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 structure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typically used in large-scale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(or node) has its own local memory, but clusters are further grouped into higher levels of hierarchy.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Access Levels: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1: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Local memory (fastest access, lowest latency).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2: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Memory within the same cluster (CSM – Cluster Shared Memory).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3: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Global shared memory (GSM) in other clusters, accessed through the interconnection network (slower).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Organization: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are grouped into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 may be connected through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Interconnection Network (CIN)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such as NUMAlink, InfiniBand, or Ethernet.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Address Space: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from all levels is mapped into a single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address space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the time to access memory depends on its distance from the processor.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3" name="Google Shape;118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926" y="1043230"/>
            <a:ext cx="3229151" cy="2441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Cache-Only Memory Access (COMA) Multiprocessors</a:t>
            </a:r>
            <a:endParaRPr sz="2400"/>
          </a:p>
        </p:txBody>
      </p:sp>
      <p:sp>
        <p:nvSpPr>
          <p:cNvPr id="1189" name="Google Shape;1189;p81"/>
          <p:cNvSpPr txBox="1"/>
          <p:nvPr>
            <p:ph idx="1" type="body"/>
          </p:nvPr>
        </p:nvSpPr>
        <p:spPr>
          <a:xfrm>
            <a:off x="205200" y="519225"/>
            <a:ext cx="5076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case of NUMA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all local memories are structured as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(COMA caches).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NUMA, COMA does not have fixed "home nodes" for memory addresses. Instead, data dynamically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migrates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processor(s) that access it most frequently.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 Caches: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local memories are treated as large caches (e.g., KSR's "ALLCACHE" architecture).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 caches are much larger than typical L2 caches, making the system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expensive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Data Migration and Replication: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migrated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replicated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dynamically based on access patterns, enabling efficient use of memory resources.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coherence is maintained using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mechanisms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Elimination of Home Nodes: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NUMA, there are no fixed "home nodes" for memory addresses.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moves to where it is needed, reducing redundant copies.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Location: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home nodes, locating specific data requires complex hardware mechanisms.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Pressure: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local memory fills up, evictions are required. Evicted data has no home, complicating management.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190" name="Google Shape;1190;p8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1" name="Google Shape;119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850" y="2284299"/>
            <a:ext cx="4159151" cy="196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8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Multicomputers – MPPs or Clusters</a:t>
            </a:r>
            <a:endParaRPr/>
          </a:p>
        </p:txBody>
      </p:sp>
      <p:sp>
        <p:nvSpPr>
          <p:cNvPr id="1197" name="Google Shape;1197;p8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Memory: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processor has its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 private memory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shared memory; processors communicate explicitly.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Remote Memory Access (NORMA):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Processors cannot directly access the memory of other nodes.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relies entirely on message-passing.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Message-Passing Interface (MPI):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Standardized communication protocol for exchanging data between nodes.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Interconnects: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High-speed interconnects like InfiniBand or Cray Aries link the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Complexity: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explicit message-passing, increasing the burden on programmers.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communication via interconnects is slower than accessing shared memory.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9" name="Google Shape;119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8355" y="812600"/>
            <a:ext cx="2501899" cy="150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3"/>
          <p:cNvSpPr txBox="1"/>
          <p:nvPr>
            <p:ph type="ctrTitle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Intuitions for Parallelism</a:t>
            </a:r>
            <a:endParaRPr/>
          </a:p>
        </p:txBody>
      </p:sp>
      <p:sp>
        <p:nvSpPr>
          <p:cNvPr id="1205" name="Google Shape;1205;p8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Parallelism Intuitions</a:t>
            </a:r>
            <a:endParaRPr/>
          </a:p>
        </p:txBody>
      </p:sp>
      <p:sp>
        <p:nvSpPr>
          <p:cNvPr id="1211" name="Google Shape;1211;p8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2" name="Google Shape;12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6400"/>
            <a:ext cx="8753152" cy="3808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Programs Perspective of Memory</a:t>
            </a:r>
            <a:endParaRPr/>
          </a:p>
        </p:txBody>
      </p:sp>
      <p:sp>
        <p:nvSpPr>
          <p:cNvPr id="1218" name="Google Shape;1218;p8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9" name="Google Shape;1219;p85"/>
          <p:cNvSpPr/>
          <p:nvPr/>
        </p:nvSpPr>
        <p:spPr>
          <a:xfrm>
            <a:off x="6283075" y="1023575"/>
            <a:ext cx="2550300" cy="3454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Memory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20" name="Google Shape;1220;p85"/>
          <p:cNvGraphicFramePr/>
          <p:nvPr/>
        </p:nvGraphicFramePr>
        <p:xfrm>
          <a:off x="6750550" y="169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{2E8AC840-8123-419E-A546-38D86975718B}</a:tableStyleId>
              </a:tblPr>
              <a:tblGrid>
                <a:gridCol w="843025"/>
                <a:gridCol w="843025"/>
              </a:tblGrid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Address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Value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0x1F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1" name="Google Shape;1221;p85"/>
          <p:cNvSpPr txBox="1"/>
          <p:nvPr>
            <p:ph idx="1" type="body"/>
          </p:nvPr>
        </p:nvSpPr>
        <p:spPr>
          <a:xfrm>
            <a:off x="205200" y="519225"/>
            <a:ext cx="5817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A computer’s memory is structured as an array of bytes.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Each byte is assigned a unique 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which represents its position in the memory array.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(We’ll continue assuming the memory is byte-addressable.)</a:t>
            </a:r>
            <a:endParaRPr i="1"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The byte at address 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0x2</a:t>
            </a: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contains the value 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The byte at address 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0x1F (31)</a:t>
            </a: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contains the value </a:t>
            </a:r>
            <a:r>
              <a:rPr b="1"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255</a:t>
            </a:r>
            <a:r>
              <a:rPr lang="en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</a:t>
            </a:r>
            <a:endParaRPr/>
          </a:p>
        </p:txBody>
      </p:sp>
      <p:sp>
        <p:nvSpPr>
          <p:cNvPr id="1227" name="Google Shape;1227;p8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8" name="Google Shape;122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750" y="853750"/>
            <a:ext cx="5469972" cy="292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86"/>
          <p:cNvSpPr txBox="1"/>
          <p:nvPr>
            <p:ph idx="1" type="body"/>
          </p:nvPr>
        </p:nvSpPr>
        <p:spPr>
          <a:xfrm>
            <a:off x="205200" y="519225"/>
            <a:ext cx="3897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What Are Caches?</a:t>
            </a:r>
            <a:b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A cache is a small, high-speed hardware storage layer that holds frequently accessed data to reduce memory access latency.</a:t>
            </a:r>
            <a:br>
              <a:rPr i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Key Properties of Caches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Transparent to Software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Does not alter program behavior.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Only impacts performance.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On-Chip Storage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Stores a subset of data from main memory.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Faster access than DRAM (e.g., 1-5 cycles vs. 100+ cycles).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Cache Line Granularity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Data stored in fixed-size blocks (</a:t>
            </a:r>
            <a:r>
              <a:rPr i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cache lines</a:t>
            </a: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Example: 4-byte line size.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Two ways caches help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Spatial and Temporal locality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Caches and Data Locality</a:t>
            </a:r>
            <a:endParaRPr/>
          </a:p>
        </p:txBody>
      </p:sp>
      <p:sp>
        <p:nvSpPr>
          <p:cNvPr id="1235" name="Google Shape;1235;p8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6" name="Google Shape;123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25" y="642775"/>
            <a:ext cx="7807898" cy="43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8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Caches and Data Locality</a:t>
            </a:r>
            <a:endParaRPr/>
          </a:p>
        </p:txBody>
      </p:sp>
      <p:sp>
        <p:nvSpPr>
          <p:cNvPr id="1242" name="Google Shape;1242;p8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3" name="Google Shape;124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87" y="641508"/>
            <a:ext cx="7808978" cy="431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89"/>
          <p:cNvSpPr txBox="1"/>
          <p:nvPr>
            <p:ph type="title"/>
          </p:nvPr>
        </p:nvSpPr>
        <p:spPr>
          <a:xfrm>
            <a:off x="83700" y="442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Processor Decide What Data to Keep in Cache? </a:t>
            </a:r>
            <a:endParaRPr/>
          </a:p>
        </p:txBody>
      </p:sp>
      <p:sp>
        <p:nvSpPr>
          <p:cNvPr id="1249" name="Google Shape;1249;p89"/>
          <p:cNvSpPr txBox="1"/>
          <p:nvPr>
            <p:ph idx="1" type="body"/>
          </p:nvPr>
        </p:nvSpPr>
        <p:spPr>
          <a:xfrm>
            <a:off x="205200" y="820500"/>
            <a:ext cx="8866800" cy="41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Cache Mapping Policies </a:t>
            </a:r>
            <a:r>
              <a:rPr b="1" i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(Simplified Overview)</a:t>
            </a:r>
            <a:endParaRPr b="1" i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Direct-Mapped Cache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Each memory block maps to </a:t>
            </a: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exactly one location</a:t>
            </a: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the cache.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Set-Associative Cache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Each memory block maps to a </a:t>
            </a: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of cache locations (e.g., 4-way associative).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Fully Associative Cache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can be placed </a:t>
            </a:r>
            <a:r>
              <a:rPr b="1"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anywhere</a:t>
            </a:r>
            <a:r>
              <a:rPr lang="en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the cache (rarely used).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250" name="Google Shape;1250;p8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Direct-Mapped Cache</a:t>
            </a:r>
            <a:endParaRPr/>
          </a:p>
        </p:txBody>
      </p:sp>
      <p:sp>
        <p:nvSpPr>
          <p:cNvPr id="1256" name="Google Shape;1256;p90"/>
          <p:cNvSpPr txBox="1"/>
          <p:nvPr>
            <p:ph idx="1" type="body"/>
          </p:nvPr>
        </p:nvSpPr>
        <p:spPr>
          <a:xfrm>
            <a:off x="205200" y="519225"/>
            <a:ext cx="5052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Rule: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Each memory address maps to </a:t>
            </a: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exactly one cache line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Cache Size: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4 lines (0-3).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Memory Addresses: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0x00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0x04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0x08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0x0C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Mapping Formula:</a:t>
            </a:r>
            <a:b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Cache Line = (Address / Block Size) % Total Lines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Pros ✅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Simple hardware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Easy to implement (no complex search logic).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Fast access time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Fixed mapping means no decision-making overhead.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Low power consumption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Minimal circuitry required.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Cons ❌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High conflict misses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Multiple addresses compete for the same cache line.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Infexible replacement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No choice in eviction—forced replacement on collision.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Poor utilization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Frequently accessed blocks may evict each other.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0E0E"/>
              </a:solidFill>
            </a:endParaRPr>
          </a:p>
        </p:txBody>
      </p:sp>
      <p:sp>
        <p:nvSpPr>
          <p:cNvPr id="1257" name="Google Shape;1257;p9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8" name="Google Shape;125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500" y="203000"/>
            <a:ext cx="2322476" cy="42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9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	Set-Associative Cache</a:t>
            </a:r>
            <a:endParaRPr/>
          </a:p>
        </p:txBody>
      </p:sp>
      <p:sp>
        <p:nvSpPr>
          <p:cNvPr id="1264" name="Google Shape;1264;p91"/>
          <p:cNvSpPr txBox="1"/>
          <p:nvPr>
            <p:ph idx="1" type="body"/>
          </p:nvPr>
        </p:nvSpPr>
        <p:spPr>
          <a:xfrm>
            <a:off x="205200" y="519225"/>
            <a:ext cx="5052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Rule: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Each memory address maps to a </a:t>
            </a: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(e.g., 2 lines per set).</a:t>
            </a:r>
            <a:b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Cache: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4 sets × 2 lines = 8 total lines.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Memory Addresses: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0x00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0x08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0x10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Mapping Formula: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Set = (Address / Block Size) % Total Sets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Pros ✅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Reduced conflict misses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Multiple slots per set reduce collisions.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Balanced performance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Better hit rate than direct-mapped, simpler than fully associative.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Flexible replacement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Policies like LRU can be applied </a:t>
            </a:r>
            <a:r>
              <a:rPr i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within a set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Cons ❌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Increased complexity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Additional logic to manage sets and replacement policies.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Slower than direct-mapped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Slightly longer access time due to set search.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Higher power usage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More circuitry for tag comparison.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9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6" name="Google Shape;126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625" y="330575"/>
            <a:ext cx="2322476" cy="42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	Fully-Associative Cache</a:t>
            </a:r>
            <a:endParaRPr/>
          </a:p>
        </p:txBody>
      </p:sp>
      <p:sp>
        <p:nvSpPr>
          <p:cNvPr id="1272" name="Google Shape;1272;p92"/>
          <p:cNvSpPr txBox="1"/>
          <p:nvPr>
            <p:ph idx="1" type="body"/>
          </p:nvPr>
        </p:nvSpPr>
        <p:spPr>
          <a:xfrm>
            <a:off x="205200" y="519225"/>
            <a:ext cx="5052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Rule: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Any memory address can map to </a:t>
            </a: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any cache line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Cache Size: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4 lines.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Memory Addresses: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0x00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0x04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0x08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0x0C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E0E0E"/>
                </a:solidFill>
                <a:highlight>
                  <a:srgbClr val="ECECEC"/>
                </a:highlight>
                <a:latin typeface="Roboto Mono"/>
                <a:ea typeface="Roboto Mono"/>
                <a:cs typeface="Roboto Mono"/>
                <a:sym typeface="Roboto Mono"/>
              </a:rPr>
              <a:t>0x10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Pros ✅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Minimal conflict misses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Any block can occupy any cache line.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Optimal replacement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Global LRU policy maximizes cache utilization.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Flexibility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Ideal for small, high-priority caches (e.g., TLB).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Cons ❌</a:t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High complexity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Requires searching all entries for a match (slow).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Impractical for large sizes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Hardware cost grows exponentially with cache size.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Power-intensive</a:t>
            </a:r>
            <a:r>
              <a:rPr lang="en" sz="1200">
                <a:solidFill>
                  <a:srgbClr val="0E0E0E"/>
                </a:solidFill>
                <a:latin typeface="Roboto"/>
                <a:ea typeface="Roboto"/>
                <a:cs typeface="Roboto"/>
                <a:sym typeface="Roboto"/>
              </a:rPr>
              <a:t>: Parallel tag comparison consumes significant energy.</a:t>
            </a:r>
            <a:endParaRPr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9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4" name="Google Shape;127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125" y="383500"/>
            <a:ext cx="2322476" cy="42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</a:t>
            </a:r>
            <a:endParaRPr/>
          </a:p>
        </p:txBody>
      </p:sp>
      <p:sp>
        <p:nvSpPr>
          <p:cNvPr id="1280" name="Google Shape;1280;p93"/>
          <p:cNvSpPr txBox="1"/>
          <p:nvPr>
            <p:ph idx="1" type="body"/>
          </p:nvPr>
        </p:nvSpPr>
        <p:spPr>
          <a:xfrm>
            <a:off x="205200" y="1433625"/>
            <a:ext cx="3411900" cy="1915800"/>
          </a:xfrm>
          <a:prstGeom prst="rect">
            <a:avLst/>
          </a:prstGeom>
          <a:solidFill>
            <a:srgbClr val="EBEBE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{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" sz="120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printf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"%d\n"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 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1" name="Google Shape;1281;p9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2" name="Google Shape;1282;p93"/>
          <p:cNvSpPr txBox="1"/>
          <p:nvPr>
            <p:ph idx="1" type="body"/>
          </p:nvPr>
        </p:nvSpPr>
        <p:spPr>
          <a:xfrm>
            <a:off x="4553900" y="1205025"/>
            <a:ext cx="4335900" cy="2342400"/>
          </a:xfrm>
          <a:prstGeom prst="rect">
            <a:avLst/>
          </a:prstGeom>
          <a:solidFill>
            <a:srgbClr val="EBEBE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ld   r0, addr[r1]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───────────────────────────────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mul  r1, r0, r0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───────────────────────────────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mul  r1, r1, r0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───────────────────────────────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...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───────────────────────────────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   addr[r2], r0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 v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283" name="Google Shape;1283;p93"/>
          <p:cNvCxnSpPr>
            <a:stCxn id="1280" idx="3"/>
            <a:endCxn id="1282" idx="1"/>
          </p:cNvCxnSpPr>
          <p:nvPr/>
        </p:nvCxnSpPr>
        <p:spPr>
          <a:xfrm flipH="1" rot="10800000">
            <a:off x="3617100" y="2376225"/>
            <a:ext cx="936900" cy="15300"/>
          </a:xfrm>
          <a:prstGeom prst="straightConnector1">
            <a:avLst/>
          </a:prstGeom>
          <a:noFill/>
          <a:ln cap="flat" cmpd="sng" w="28575">
            <a:solidFill>
              <a:srgbClr val="0E0E0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4" name="Google Shape;1284;p93"/>
          <p:cNvSpPr txBox="1"/>
          <p:nvPr/>
        </p:nvSpPr>
        <p:spPr>
          <a:xfrm>
            <a:off x="3596375" y="1989950"/>
            <a:ext cx="93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Compile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9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9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2" name="Google Shape;129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6" y="0"/>
            <a:ext cx="90042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9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9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0" name="Google Shape;130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6" y="0"/>
            <a:ext cx="90042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9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96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9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8" name="Google Shape;130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6" y="0"/>
            <a:ext cx="90042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9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9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9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6" name="Google Shape;131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66" y="0"/>
            <a:ext cx="90042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9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Attempt at Parallelism (ILP)</a:t>
            </a:r>
            <a:endParaRPr/>
          </a:p>
        </p:txBody>
      </p:sp>
      <p:sp>
        <p:nvSpPr>
          <p:cNvPr id="1322" name="Google Shape;1322;p98"/>
          <p:cNvSpPr txBox="1"/>
          <p:nvPr>
            <p:ph idx="1" type="body"/>
          </p:nvPr>
        </p:nvSpPr>
        <p:spPr>
          <a:xfrm>
            <a:off x="205200" y="519225"/>
            <a:ext cx="77616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Instruction-Level Parallelism (ILP)</a:t>
            </a:r>
            <a:endParaRPr b="1" sz="13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Executing multiple instructions simultaneously within a single program thread.</a:t>
            </a:r>
            <a:endParaRPr i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Key Techniques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Superscalar Execution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Multiple instructions decoded/executed per clock cycle.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Example: Intel/AMD processors.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Pipelining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Overlap stages of instruction processing (Fetch, Decode, Execute, Writeback).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Out-of-Order Execution</a:t>
            </a:r>
            <a:endParaRPr b="1"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Dynamically reorder instructions to avoid stalls.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9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4" name="Google Shape;1324;p98"/>
          <p:cNvSpPr txBox="1"/>
          <p:nvPr>
            <p:ph idx="1" type="body"/>
          </p:nvPr>
        </p:nvSpPr>
        <p:spPr>
          <a:xfrm>
            <a:off x="2126200" y="3701775"/>
            <a:ext cx="5166900" cy="1159500"/>
          </a:xfrm>
          <a:prstGeom prst="rect">
            <a:avLst/>
          </a:prstGeom>
          <a:solidFill>
            <a:srgbClr val="EBEBE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1. a = x + y  ──┐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2. b = z * 2    │ Independent → Can run in parallel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3. c = a + b  ──┘ (Depends on 1 and 2)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4. d = m - n  ──► Independent of 1-3  </a:t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07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 with ILP</a:t>
            </a:r>
            <a:endParaRPr/>
          </a:p>
        </p:txBody>
      </p:sp>
      <p:sp>
        <p:nvSpPr>
          <p:cNvPr id="1330" name="Google Shape;1330;p9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1" name="Google Shape;133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113" y="895500"/>
            <a:ext cx="6251776" cy="380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ILP: One processor, Multiple Execution Unit</a:t>
            </a:r>
            <a:endParaRPr/>
          </a:p>
        </p:txBody>
      </p:sp>
      <p:sp>
        <p:nvSpPr>
          <p:cNvPr id="1337" name="Google Shape;1337;p10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8" name="Google Shape;1338;p100"/>
          <p:cNvPicPr preferRelativeResize="0"/>
          <p:nvPr/>
        </p:nvPicPr>
        <p:blipFill rotWithShape="1">
          <a:blip r:embed="rId3">
            <a:alphaModFix/>
          </a:blip>
          <a:srcRect b="4394" l="3439" r="2848" t="3473"/>
          <a:stretch/>
        </p:blipFill>
        <p:spPr>
          <a:xfrm>
            <a:off x="2557013" y="976452"/>
            <a:ext cx="4029975" cy="3462776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0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</a:t>
            </a:r>
            <a:endParaRPr/>
          </a:p>
        </p:txBody>
      </p:sp>
      <p:sp>
        <p:nvSpPr>
          <p:cNvPr id="1344" name="Google Shape;1344;p101"/>
          <p:cNvSpPr txBox="1"/>
          <p:nvPr>
            <p:ph idx="1" type="body"/>
          </p:nvPr>
        </p:nvSpPr>
        <p:spPr>
          <a:xfrm>
            <a:off x="205200" y="519225"/>
            <a:ext cx="3900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single 1D array containing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masses and velocities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the 2D grid: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first half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 values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x[index]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second half contains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velocity values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x[index + M]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Organized in a row-major format for a grid with dimensions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x 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6" name="Google Shape;134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475" y="2649250"/>
            <a:ext cx="5591900" cy="212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1"/>
          <p:cNvSpPr txBox="1"/>
          <p:nvPr>
            <p:ph idx="1" type="body"/>
          </p:nvPr>
        </p:nvSpPr>
        <p:spPr>
          <a:xfrm>
            <a:off x="4479300" y="651400"/>
            <a:ext cx="3900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1D array where each element represents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kinetic energy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 row in the grid.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y[i]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corresponds to the total energy for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 row.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0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</a:t>
            </a:r>
            <a:endParaRPr/>
          </a:p>
        </p:txBody>
      </p:sp>
      <p:sp>
        <p:nvSpPr>
          <p:cNvPr id="1353" name="Google Shape;1353;p10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4" name="Google Shape;135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00" y="1829338"/>
            <a:ext cx="3906824" cy="1484824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5" name="Google Shape;135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350" y="1470135"/>
            <a:ext cx="4170074" cy="2203225"/>
          </a:xfrm>
          <a:prstGeom prst="rect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6" name="Google Shape;1356;p102"/>
          <p:cNvCxnSpPr>
            <a:stCxn id="1354" idx="3"/>
            <a:endCxn id="1355" idx="1"/>
          </p:cNvCxnSpPr>
          <p:nvPr/>
        </p:nvCxnSpPr>
        <p:spPr>
          <a:xfrm>
            <a:off x="4115324" y="2571750"/>
            <a:ext cx="563100" cy="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0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</a:t>
            </a:r>
            <a:endParaRPr/>
          </a:p>
        </p:txBody>
      </p:sp>
      <p:sp>
        <p:nvSpPr>
          <p:cNvPr id="1362" name="Google Shape;1362;p10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3" name="Google Shape;136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00" y="1829338"/>
            <a:ext cx="3906824" cy="1484824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64" name="Google Shape;1364;p103"/>
          <p:cNvCxnSpPr>
            <a:stCxn id="1365" idx="3"/>
            <a:endCxn id="1366" idx="1"/>
          </p:cNvCxnSpPr>
          <p:nvPr/>
        </p:nvCxnSpPr>
        <p:spPr>
          <a:xfrm flipH="1" rot="10800000">
            <a:off x="4105500" y="2727375"/>
            <a:ext cx="1240800" cy="27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66" name="Google Shape;1366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399" y="599900"/>
            <a:ext cx="2383956" cy="425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03"/>
          <p:cNvSpPr txBox="1"/>
          <p:nvPr>
            <p:ph idx="1" type="body"/>
          </p:nvPr>
        </p:nvSpPr>
        <p:spPr>
          <a:xfrm>
            <a:off x="205200" y="519225"/>
            <a:ext cx="3900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 the program →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 of Instructions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03"/>
          <p:cNvSpPr txBox="1"/>
          <p:nvPr/>
        </p:nvSpPr>
        <p:spPr>
          <a:xfrm>
            <a:off x="4264975" y="2306750"/>
            <a:ext cx="9132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Compile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</a:t>
            </a:r>
            <a:endParaRPr/>
          </a:p>
        </p:txBody>
      </p:sp>
      <p:sp>
        <p:nvSpPr>
          <p:cNvPr id="1373" name="Google Shape;1373;p10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74" name="Google Shape;1374;p104"/>
          <p:cNvCxnSpPr>
            <a:stCxn id="1375" idx="3"/>
            <a:endCxn id="1376" idx="1"/>
          </p:cNvCxnSpPr>
          <p:nvPr/>
        </p:nvCxnSpPr>
        <p:spPr>
          <a:xfrm>
            <a:off x="3659252" y="2727250"/>
            <a:ext cx="1687200" cy="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376" name="Google Shape;137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399" y="599900"/>
            <a:ext cx="2383956" cy="425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04"/>
          <p:cNvPicPr preferRelativeResize="0"/>
          <p:nvPr/>
        </p:nvPicPr>
        <p:blipFill rotWithShape="1">
          <a:blip r:embed="rId4">
            <a:alphaModFix/>
          </a:blip>
          <a:srcRect b="6310" l="6103" r="56150" t="8416"/>
          <a:stretch/>
        </p:blipFill>
        <p:spPr>
          <a:xfrm>
            <a:off x="1145075" y="1105063"/>
            <a:ext cx="2514177" cy="3244374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0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Program: ILP </a:t>
            </a:r>
            <a:endParaRPr/>
          </a:p>
        </p:txBody>
      </p:sp>
      <p:sp>
        <p:nvSpPr>
          <p:cNvPr id="1382" name="Google Shape;1382;p10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83" name="Google Shape;1383;p105"/>
          <p:cNvCxnSpPr>
            <a:stCxn id="1384" idx="3"/>
            <a:endCxn id="1385" idx="1"/>
          </p:cNvCxnSpPr>
          <p:nvPr/>
        </p:nvCxnSpPr>
        <p:spPr>
          <a:xfrm>
            <a:off x="3576274" y="2727250"/>
            <a:ext cx="1770000" cy="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385" name="Google Shape;138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399" y="599900"/>
            <a:ext cx="2383956" cy="425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105"/>
          <p:cNvPicPr preferRelativeResize="0"/>
          <p:nvPr/>
        </p:nvPicPr>
        <p:blipFill rotWithShape="1">
          <a:blip r:embed="rId4">
            <a:alphaModFix/>
          </a:blip>
          <a:srcRect b="4394" l="3439" r="2848" t="3473"/>
          <a:stretch/>
        </p:blipFill>
        <p:spPr>
          <a:xfrm>
            <a:off x="215725" y="1283463"/>
            <a:ext cx="3360549" cy="2887576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6" name="Google Shape;1386;p105"/>
          <p:cNvSpPr/>
          <p:nvPr/>
        </p:nvSpPr>
        <p:spPr>
          <a:xfrm>
            <a:off x="5327075" y="2298450"/>
            <a:ext cx="1717500" cy="356700"/>
          </a:xfrm>
          <a:prstGeom prst="wedgeRectCallout">
            <a:avLst>
              <a:gd fmla="val -89616" name="adj1"/>
              <a:gd fmla="val 582731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7" name="Google Shape;1387;p105"/>
          <p:cNvSpPr txBox="1"/>
          <p:nvPr/>
        </p:nvSpPr>
        <p:spPr>
          <a:xfrm>
            <a:off x="3617750" y="4577525"/>
            <a:ext cx="2091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Dependency! 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ILP vs higher level parallelism</a:t>
            </a:r>
            <a:endParaRPr/>
          </a:p>
        </p:txBody>
      </p:sp>
      <p:sp>
        <p:nvSpPr>
          <p:cNvPr id="1393" name="Google Shape;1393;p10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4" name="Google Shape;139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00" y="1452100"/>
            <a:ext cx="7693874" cy="29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06"/>
          <p:cNvSpPr txBox="1"/>
          <p:nvPr/>
        </p:nvSpPr>
        <p:spPr>
          <a:xfrm>
            <a:off x="83700" y="672100"/>
            <a:ext cx="47877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 there any parallelism left here?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0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ILP Diminishing Return</a:t>
            </a:r>
            <a:endParaRPr/>
          </a:p>
        </p:txBody>
      </p:sp>
      <p:sp>
        <p:nvSpPr>
          <p:cNvPr id="1401" name="Google Shape;1401;p10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2" name="Google Shape;1402;p107"/>
          <p:cNvPicPr preferRelativeResize="0"/>
          <p:nvPr/>
        </p:nvPicPr>
        <p:blipFill rotWithShape="1">
          <a:blip r:embed="rId3">
            <a:alphaModFix/>
          </a:blip>
          <a:srcRect b="4394" l="3439" r="2848" t="3473"/>
          <a:stretch/>
        </p:blipFill>
        <p:spPr>
          <a:xfrm>
            <a:off x="5397225" y="584000"/>
            <a:ext cx="1701024" cy="1461625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3" name="Google Shape;1403;p107"/>
          <p:cNvSpPr txBox="1"/>
          <p:nvPr>
            <p:ph idx="1" type="body"/>
          </p:nvPr>
        </p:nvSpPr>
        <p:spPr>
          <a:xfrm>
            <a:off x="205200" y="519225"/>
            <a:ext cx="39003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majority of chip transistors are utilized to enhance the speed of executing a single instruction stream.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Diminishing Returns: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More transistors for ILP features yield smaller performance gains as ILP approaches its limits.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Costs: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Complex ILP logic increases design complexity, power usage, and manufacturing costs.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Underutilized Potential: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workloads lack sufficient parallelism to fully benefit from advanced ILP optimizations.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Alternatives: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Transistors could be better spent on more cores or specialized accelerators.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Bottlenecks: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Larger caches and smarter predictors can’t fully mitigate memory access delays.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ILP Saturation: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Techniques like out-of-order execution face hard limits on their effectiveness.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4" name="Google Shape;140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9600" y="2650025"/>
            <a:ext cx="3996274" cy="2184932"/>
          </a:xfrm>
          <a:prstGeom prst="rect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05" name="Google Shape;1405;p107"/>
          <p:cNvCxnSpPr/>
          <p:nvPr/>
        </p:nvCxnSpPr>
        <p:spPr>
          <a:xfrm flipH="1">
            <a:off x="4239975" y="2074400"/>
            <a:ext cx="1153500" cy="5643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107"/>
          <p:cNvCxnSpPr/>
          <p:nvPr/>
        </p:nvCxnSpPr>
        <p:spPr>
          <a:xfrm>
            <a:off x="7127675" y="2066125"/>
            <a:ext cx="1153500" cy="5892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Parallelism</a:t>
            </a:r>
            <a:endParaRPr/>
          </a:p>
        </p:txBody>
      </p:sp>
      <p:sp>
        <p:nvSpPr>
          <p:cNvPr id="1412" name="Google Shape;1412;p108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800"/>
              <a:t>      </a:t>
            </a:r>
            <a:r>
              <a:rPr lang="en" sz="3800"/>
              <a:t>Any other idea for parallelism?</a:t>
            </a:r>
            <a:endParaRPr sz="3800"/>
          </a:p>
        </p:txBody>
      </p:sp>
      <p:sp>
        <p:nvSpPr>
          <p:cNvPr id="1413" name="Google Shape;1413;p10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ASA_GES_DISC_SIMPL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